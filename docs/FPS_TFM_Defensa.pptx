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5be31674334ca4" /><Relationship Type="http://schemas.openxmlformats.org/officeDocument/2006/relationships/extended-properties" Target="/docProps/app.xml" Id="R08bce49f0a654619" /><Relationship Type="http://schemas.openxmlformats.org/officeDocument/2006/relationships/officeDocument" Target="/ppt/presentation.xml" Id="R67ab26b2093f48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57f6394fed4845"/>
  </p:sldMasterIdLst>
  <p:notesMasterIdLst>
    <p:notesMasterId xmlns:r="http://schemas.openxmlformats.org/officeDocument/2006/relationships" r:id="R196327d4574e4481"/>
  </p:notesMasterIdLst>
  <p:sldIdLst>
    <p:sldId xmlns:r="http://schemas.openxmlformats.org/officeDocument/2006/relationships" id="256" r:id="R8627fc0020d64c9d"/>
    <p:sldId xmlns:r="http://schemas.openxmlformats.org/officeDocument/2006/relationships" id="257" r:id="R43e16d477c4643fd"/>
    <p:sldId xmlns:r="http://schemas.openxmlformats.org/officeDocument/2006/relationships" id="258" r:id="R7dc2c9df66f5428e"/>
    <p:sldId xmlns:r="http://schemas.openxmlformats.org/officeDocument/2006/relationships" id="259" r:id="R16d283c7e66b41e1"/>
    <p:sldId xmlns:r="http://schemas.openxmlformats.org/officeDocument/2006/relationships" id="260" r:id="R5e60b2d127ec4c4e"/>
    <p:sldId xmlns:r="http://schemas.openxmlformats.org/officeDocument/2006/relationships" id="261" r:id="R07e37c3af99b454c"/>
    <p:sldId xmlns:r="http://schemas.openxmlformats.org/officeDocument/2006/relationships" id="262" r:id="R35dd681e2fee4fc3"/>
    <p:sldId xmlns:r="http://schemas.openxmlformats.org/officeDocument/2006/relationships" id="263" r:id="R4197065d383f40a5"/>
    <p:sldId xmlns:r="http://schemas.openxmlformats.org/officeDocument/2006/relationships" id="264" r:id="R7b425ee13df74fb1"/>
    <p:sldId xmlns:r="http://schemas.openxmlformats.org/officeDocument/2006/relationships" id="265" r:id="Re407ace8bdfd4a42"/>
    <p:sldId xmlns:r="http://schemas.openxmlformats.org/officeDocument/2006/relationships" id="266" r:id="R8f9c804da38a4a00"/>
    <p:sldId xmlns:r="http://schemas.openxmlformats.org/officeDocument/2006/relationships" id="267" r:id="Rd69ac92fde764a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53e78ce8944ac8" /><Relationship Type="http://schemas.openxmlformats.org/officeDocument/2006/relationships/slideMaster" Target="/ppt/slideMasters/slideMaster1.xml" Id="Ra457f6394fed4845" /><Relationship Type="http://schemas.openxmlformats.org/officeDocument/2006/relationships/notesMaster" Target="/ppt/notesMasters/notesMaster1.xml" Id="R196327d4574e4481" /><Relationship Type="http://schemas.openxmlformats.org/officeDocument/2006/relationships/presProps" Target="/ppt/presProps.xml" Id="Rb1dba83a6d954781" /><Relationship Type="http://schemas.openxmlformats.org/officeDocument/2006/relationships/tableStyles" Target="/ppt/tableStyles.xml" Id="R8ae4070ca8944a74" /><Relationship Type="http://schemas.openxmlformats.org/officeDocument/2006/relationships/slide" Target="/ppt/slides/slide1.xml" Id="R8627fc0020d64c9d" /><Relationship Type="http://schemas.openxmlformats.org/officeDocument/2006/relationships/slide" Target="/ppt/slides/slide2.xml" Id="R43e16d477c4643fd" /><Relationship Type="http://schemas.openxmlformats.org/officeDocument/2006/relationships/slide" Target="/ppt/slides/slide3.xml" Id="R7dc2c9df66f5428e" /><Relationship Type="http://schemas.openxmlformats.org/officeDocument/2006/relationships/slide" Target="/ppt/slides/slide4.xml" Id="R16d283c7e66b41e1" /><Relationship Type="http://schemas.openxmlformats.org/officeDocument/2006/relationships/slide" Target="/ppt/slides/slide5.xml" Id="R5e60b2d127ec4c4e" /><Relationship Type="http://schemas.openxmlformats.org/officeDocument/2006/relationships/slide" Target="/ppt/slides/slide6.xml" Id="R07e37c3af99b454c" /><Relationship Type="http://schemas.openxmlformats.org/officeDocument/2006/relationships/slide" Target="/ppt/slides/slide7.xml" Id="R35dd681e2fee4fc3" /><Relationship Type="http://schemas.openxmlformats.org/officeDocument/2006/relationships/slide" Target="/ppt/slides/slide8.xml" Id="R4197065d383f40a5" /><Relationship Type="http://schemas.openxmlformats.org/officeDocument/2006/relationships/slide" Target="/ppt/slides/slide9.xml" Id="R7b425ee13df74fb1" /><Relationship Type="http://schemas.openxmlformats.org/officeDocument/2006/relationships/slide" Target="/ppt/slides/slide10.xml" Id="Re407ace8bdfd4a42" /><Relationship Type="http://schemas.openxmlformats.org/officeDocument/2006/relationships/slide" Target="/ppt/slides/slide11.xml" Id="R8f9c804da38a4a00" /><Relationship Type="http://schemas.openxmlformats.org/officeDocument/2006/relationships/slide" Target="/ppt/slides/slide12.xml" Id="Rd69ac92fde764a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d2f4fef57e40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75aa12262b47a5" /><Relationship Type="http://schemas.openxmlformats.org/officeDocument/2006/relationships/notesMaster" Target="/ppt/notesMasters/notesMaster1.xml" Id="Rfeeff5c5791745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885efebc4a42f8" /><Relationship Type="http://schemas.openxmlformats.org/officeDocument/2006/relationships/notesMaster" Target="/ppt/notesMasters/notesMaster1.xml" Id="R148f15e628b14b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dbfb449da040bb" /><Relationship Type="http://schemas.openxmlformats.org/officeDocument/2006/relationships/notesMaster" Target="/ppt/notesMasters/notesMaster1.xml" Id="R8a215c9c715a48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2ad64150f64bda" /><Relationship Type="http://schemas.openxmlformats.org/officeDocument/2006/relationships/notesMaster" Target="/ppt/notesMasters/notesMaster1.xml" Id="R12241f4829a140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b9580e2e644b7e" /><Relationship Type="http://schemas.openxmlformats.org/officeDocument/2006/relationships/notesMaster" Target="/ppt/notesMasters/notesMaster1.xml" Id="Rf09e0fc5127446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35ad43fb5a4136" /><Relationship Type="http://schemas.openxmlformats.org/officeDocument/2006/relationships/notesMaster" Target="/ppt/notesMasters/notesMaster1.xml" Id="R0968b6d4c29747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a0d7fc01254229" /><Relationship Type="http://schemas.openxmlformats.org/officeDocument/2006/relationships/notesMaster" Target="/ppt/notesMasters/notesMaster1.xml" Id="R2d4b407585754e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c4f1924bd1437e" /><Relationship Type="http://schemas.openxmlformats.org/officeDocument/2006/relationships/notesMaster" Target="/ppt/notesMasters/notesMaster1.xml" Id="Rb1edb546327748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ad3b14da467469b" /><Relationship Type="http://schemas.openxmlformats.org/officeDocument/2006/relationships/notesMaster" Target="/ppt/notesMasters/notesMaster1.xml" Id="R1fdee94e68a340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4436d6c8e1448a" /><Relationship Type="http://schemas.openxmlformats.org/officeDocument/2006/relationships/notesMaster" Target="/ppt/notesMasters/notesMaster1.xml" Id="Re7e5a69f4c7949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45ad5c35c44664" /><Relationship Type="http://schemas.openxmlformats.org/officeDocument/2006/relationships/notesMaster" Target="/ppt/notesMasters/notesMaster1.xml" Id="Rfccddae4450c40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3f919b939143c8" /><Relationship Type="http://schemas.openxmlformats.org/officeDocument/2006/relationships/notesMaster" Target="/ppt/notesMasters/notesMaster1.xml" Id="Re1000f86cfb54c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docs/TFM_DEFENSE_OUTLINE.md y docs/TFM_MANUSCRIPT_DRAFT.md. Personalizar autor, tutor, universidad y fecha según la plantilla oficial.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PROJECT_STATE.md, hipótesis y limitaciones. Captura: docs/screenshots/02_team_mode.png.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docs/figures/tfm_architecture_overview.svg y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collector/event_catalog.json, collector/data_collector_futbol.html y docs/screenshots/01_collector.png.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docs/figures/tfm_strict_past.svg, PROJECT_STATE.md y docs/TFM_METHODOLOGY_DRAFT.md.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docs/figures/tfm_expert_system.svg, PROJECT_STATE.md y docs/DECISIONS.md.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docs/screenshots/02_team_mode.png, 03_player_mode.png, 04_match_mode.png, 05_gps.png y 06_attention.png.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docs/screenshots/07_coach_copilot.png, llm/COACH_COPILOT_CONTRACT.md y docs/figures/tfm_llm_grounding.svg.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docs/TFM_EVIDENCE_MATRIX.md, PROJECT_STATE.md, publication.validate_synthetic_demo, llm.validate_coach_contract y llm/smoke_test_coach_agent.py.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docs/screenshots/08_pdf_team.png, 09_pdf_player.png y 10_pdf_match.png.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docs/TFM_DISCUSSION_CONCLUSIONS_DRAFT.md, PROJECT_STATE.md y docs/screenshots/06_attention.png.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conclusión sintetizada de docs/TFM_DEFENSE_OUTLINE.md y docs/TFM_DISCUSSION_CONCLUSIONS_DRAFT.md.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3ccc86a9744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135682e44a4e9a" /><Relationship Type="http://schemas.openxmlformats.org/officeDocument/2006/relationships/slideLayout" Target="/ppt/slideLayouts/slideLayout1.xml" Id="R7d75847f7e234f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75847f7e234f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6d6b7dbb242a0" /><Relationship Type="http://schemas.openxmlformats.org/officeDocument/2006/relationships/notesSlide" Target="/ppt/notesSlides/notesSlide1.xml" Id="Rd5b429a8a54446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9caff17b84c5c" /><Relationship Type="http://schemas.openxmlformats.org/officeDocument/2006/relationships/image" Target="/ppt/media/image.png" Id="R6101f37582584aea" /><Relationship Type="http://schemas.openxmlformats.org/officeDocument/2006/relationships/notesSlide" Target="/ppt/notesSlides/notesSlide2.xml" Id="R76232254b5b54b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589fa3b1044f3" /><Relationship Type="http://schemas.openxmlformats.org/officeDocument/2006/relationships/image" Target="/ppt/media/image2.png" Id="R541ac94ccd494be5" /><Relationship Type="http://schemas.openxmlformats.org/officeDocument/2006/relationships/image" Target="/ppt/media/image.svg" Id="Rfd42b140b0a94ce1" /><Relationship Type="http://schemas.openxmlformats.org/officeDocument/2006/relationships/notesSlide" Target="/ppt/notesSlides/notesSlide3.xml" Id="R9ad706a13eb04a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2f809f14b48de" /><Relationship Type="http://schemas.openxmlformats.org/officeDocument/2006/relationships/image" Target="/ppt/media/image3.png" Id="R4e9e1c6edac6423a" /><Relationship Type="http://schemas.openxmlformats.org/officeDocument/2006/relationships/notesSlide" Target="/ppt/notesSlides/notesSlide4.xml" Id="R4cfca8de64a84a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0487fa444496d" /><Relationship Type="http://schemas.openxmlformats.org/officeDocument/2006/relationships/image" Target="/ppt/media/image4.png" Id="R6787e5e1bd624d75" /><Relationship Type="http://schemas.openxmlformats.org/officeDocument/2006/relationships/image" Target="/ppt/media/image2.svg" Id="Ra618f2f4284a4942" /><Relationship Type="http://schemas.openxmlformats.org/officeDocument/2006/relationships/notesSlide" Target="/ppt/notesSlides/notesSlide5.xml" Id="Rd991f38745c942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3fa92d339341d1" /><Relationship Type="http://schemas.openxmlformats.org/officeDocument/2006/relationships/image" Target="/ppt/media/image5.png" Id="R99988cd4ca824597" /><Relationship Type="http://schemas.openxmlformats.org/officeDocument/2006/relationships/image" Target="/ppt/media/image3.svg" Id="R54b30dbbfaff4a3e" /><Relationship Type="http://schemas.openxmlformats.org/officeDocument/2006/relationships/notesSlide" Target="/ppt/notesSlides/notesSlide6.xml" Id="R134c04bc04604d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8a3f1b83f42b2" /><Relationship Type="http://schemas.openxmlformats.org/officeDocument/2006/relationships/image" Target="/ppt/media/image6.png" Id="Rf737ea1746ae4c79" /><Relationship Type="http://schemas.openxmlformats.org/officeDocument/2006/relationships/image" Target="/ppt/media/image7.png" Id="R7be268c6627e4afc" /><Relationship Type="http://schemas.openxmlformats.org/officeDocument/2006/relationships/notesSlide" Target="/ppt/notesSlides/notesSlide7.xml" Id="Rd1e560f54afc48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ec8a9aaff94faf" /><Relationship Type="http://schemas.openxmlformats.org/officeDocument/2006/relationships/image" Target="/ppt/media/image8.png" Id="R52cdd97496ad46b7" /><Relationship Type="http://schemas.openxmlformats.org/officeDocument/2006/relationships/notesSlide" Target="/ppt/notesSlides/notesSlide8.xml" Id="R73959dd7f52243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eb28e95374205" /><Relationship Type="http://schemas.openxmlformats.org/officeDocument/2006/relationships/notesSlide" Target="/ppt/notesSlides/notesSlide9.xml" Id="R08f6658463d144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830e6339b47d7" /><Relationship Type="http://schemas.openxmlformats.org/officeDocument/2006/relationships/image" Target="/ppt/media/image9.png" Id="R40aafd5f9e1e4df4" /><Relationship Type="http://schemas.openxmlformats.org/officeDocument/2006/relationships/image" Target="/ppt/media/image10.png" Id="Rb01f183f51bb484e" /><Relationship Type="http://schemas.openxmlformats.org/officeDocument/2006/relationships/image" Target="/ppt/media/image11.png" Id="R9a2d3e9fbf9b4931" /><Relationship Type="http://schemas.openxmlformats.org/officeDocument/2006/relationships/notesSlide" Target="/ppt/notesSlides/notesSlide10.xml" Id="Rc3ff8b5cfdeb48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7626fac7f402e" /><Relationship Type="http://schemas.openxmlformats.org/officeDocument/2006/relationships/image" Target="/ppt/media/image12.png" Id="Redda7f04610c41a5" /><Relationship Type="http://schemas.openxmlformats.org/officeDocument/2006/relationships/notesSlide" Target="/ppt/notesSlides/notesSlide11.xml" Id="Reddbd71907e244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5df630adf4271" /><Relationship Type="http://schemas.openxmlformats.org/officeDocument/2006/relationships/notesSlide" Target="/ppt/notesSlides/notesSlide12.xml" Id="R9adccd634e1540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20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88CDD-92FB-450D-A0AC-8F165738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FD3D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FD3DA"/>
                </a:solidFill>
                <a:latin typeface="Arial"/>
                <a:ea typeface="Arial"/>
                <a:cs typeface="Arial"/>
              </a:rPr>
              <a:t>Football Performance System  ·  TFM Data Science e IA  · 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B14BE-BB6F-47D3-B23C-8E2B2B60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Football Performance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E81C9-ADE5-4805-A3F2-C36C51E6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809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321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C9E6E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9E6E3"/>
                </a:solidFill>
                <a:latin typeface="Arial"/>
                <a:ea typeface="Arial"/>
                <a:cs typeface="Arial"/>
              </a:rPr>
              <a:t>Sistema auditable de análisis de rendimiento para fútbol amateur y semiprofesional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9CB6C-0175-4807-B273-53AC7354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FD3D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FD3DA"/>
                </a:solidFill>
                <a:latin typeface="Arial"/>
                <a:ea typeface="Arial"/>
                <a:cs typeface="Arial"/>
              </a:rPr>
              <a:t>Defensa del Trabajo Final de Máster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0846E-1BA2-482E-ADE1-E22046F3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733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AE9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AE9A"/>
                </a:solidFill>
                <a:latin typeface="Arial"/>
                <a:ea typeface="Arial"/>
                <a:cs typeface="Arial"/>
              </a:rPr>
              <a:t>Producto funcional · demo sintética reproducible · evidencia trazable</a:t>
            </a:r>
          </a:p>
        </p:txBody>
      </p:sp>
    </p:spTree>
    <p:extLst>
      <p:ext uri="{BB962C8B-B14F-4D97-AF65-F5344CB8AC3E}">
        <p14:creationId xmlns:p14="http://schemas.microsoft.com/office/powerpoint/2010/main" val="690982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F77FD-CA10-46C8-B7F4-37A9E1CF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Problema y objetivo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E75EE-A949-4C31-A7AE-4E8BA3E2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5B8CC-4D7A-49F5-9DDA-20EC4FAC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CCCAE-AEE5-45C4-89D3-942401C7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548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Un club con vídeo y GPS opcional necesita transformar observaciones sencillas en información útil para equipo, jugador y partido.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882769-BD87-4484-86E4-321DACA1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6191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PI1 · Pipeline reproducible y sin leakage</a:t>
            </a:r>
          </a:p>
          <a:p xmlns:a="http://schemas.openxmlformats.org/drawingml/2006/main">
            <a:pPr>
              <a:defRPr sz="17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PI2 · IA grounded sin cálculo crítico</a:t>
            </a:r>
          </a:p>
          <a:p xmlns:a="http://schemas.openxmlformats.org/drawingml/2006/main">
            <a:pPr>
              <a:defRPr sz="17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PI3 · Flujo integrado con evidencia visible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AF919-901A-4184-A851-1577267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45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8A3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8A3B2B"/>
                </a:solidFill>
                <a:latin typeface="Arial"/>
                <a:ea typeface="Arial"/>
                <a:cs typeface="Arial"/>
              </a:rPr>
              <a:t>El TFM no afirma mejoras causales en decisiones, rendimiento deportivo, fatiga ni lesiones.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01f37582584aea"/>
          <a:srcRect xmlns:a="http://schemas.openxmlformats.org/drawingml/2006/main" l="21434" t="0" r="214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0" y="1219200"/>
            <a:ext cx="3714750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726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40736-5AB6-4587-984D-4FDE99AE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Arquitectura y control del cálculo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3C626-0677-4257-985B-1CBC42B5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AE141-7555-46CD-8692-3FEDB9B7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03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ac94ccd494be5">
            <a:extLst>
              <a:ext uri="{96DAC541-7B7A-43D3-8B79-37D633B846F1}">
                <asvg:svgBlip xmlns:asvg="http://schemas.microsoft.com/office/drawing/2016/SVG/main" r:embed="Rfd42b140b0a94c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1219200"/>
            <a:ext cx="7239000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19AD4-ADBD-4D3B-BC19-14DCD59D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383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La capa de presentación consume resultados calculados. No vuelve a crear métricas, rankings ni decisiones.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4DC5B-FAB2-4185-9069-8A799941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Datos observados</a:t>
            </a:r>
          </a:p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Features strict-past</a:t>
            </a:r>
          </a:p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Analytics y sistema experto</a:t>
            </a:r>
          </a:p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Dashboard, PDF y asistente</a:t>
            </a:r>
          </a:p>
        </p:txBody>
      </p:sp>
    </p:spTree>
    <p:extLst>
      <p:ext uri="{BB962C8B-B14F-4D97-AF65-F5344CB8AC3E}">
        <p14:creationId xmlns:p14="http://schemas.microsoft.com/office/powerpoint/2010/main" val="14534602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658FA-11D0-4920-BDC8-EBF6B17B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Data Collector y trazabilidad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6CA065-B178-4C5B-A94D-78BE73E7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56E51-5B1D-435F-880D-82CE05C3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04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e1c6edac6423a"/>
          <a:stretch xmlns:a="http://schemas.openxmlformats.org/drawingml/2006/main"/>
        </p:blipFill>
        <p:spPr>
          <a:xfrm xmlns:a="http://schemas.openxmlformats.org/drawingml/2006/main">
            <a:off x="609948" y="1200150"/>
            <a:ext cx="7104954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E8BF9-3817-40BA-A7DD-FA47CDD6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04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017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El Collector registra hechos observables y el contexto de jugador-partido.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8E5DF-2739-4630-A8C4-DD6057EA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38450"/>
            <a:ext cx="304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Incluye acciones de pase, remate y defensa, minutos, rol y formación.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No registra xG, PPDA, posesión avanzada ni fatiga manual.</a:t>
            </a:r>
          </a:p>
        </p:txBody>
      </p:sp>
    </p:spTree>
    <p:extLst>
      <p:ext uri="{BB962C8B-B14F-4D97-AF65-F5344CB8AC3E}">
        <p14:creationId xmlns:p14="http://schemas.microsoft.com/office/powerpoint/2010/main" val="13752424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5DA00F-F834-4AEB-88A2-36F07249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Features temporales y leakage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7AA2F-0FE2-4BDC-9112-528F9F72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32E72-F6B6-4D17-85E0-9B07E46D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05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7e5e1bd624d75">
            <a:extLst>
              <a:ext uri="{96DAC541-7B7A-43D3-8B79-37D633B846F1}">
                <asvg:svgBlip xmlns:asvg="http://schemas.microsoft.com/office/drawing/2016/SVG/main" r:embed="Ra618f2f4284a49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1285875"/>
            <a:ext cx="6858000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3BB7A1-8294-4118-A062-73F06BCA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3286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161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Cada registro utiliza solo la información disponible antes del partido analizado.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F92F1-BC1D-4A4E-8DA5-14301442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3286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FEATURE-02 y FEATURE-03 preservan ausencia de evidencia y evitan que partido actual, misma fecha o futuro informen el baseline.</a:t>
            </a:r>
          </a:p>
        </p:txBody>
      </p:sp>
    </p:spTree>
    <p:extLst>
      <p:ext uri="{BB962C8B-B14F-4D97-AF65-F5344CB8AC3E}">
        <p14:creationId xmlns:p14="http://schemas.microsoft.com/office/powerpoint/2010/main" val="5120479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AF226-0B54-429D-8395-399B4C25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Sistema experto, Match Rating y GPS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08FA0-8126-43D0-A9AD-44E60A48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8D549-148A-4E89-A8AE-794A3375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88cd4ca824597">
            <a:extLst>
              <a:ext uri="{96DAC541-7B7A-43D3-8B79-37D633B846F1}">
                <asvg:svgBlip xmlns:asvg="http://schemas.microsoft.com/office/drawing/2016/SVG/main" r:embed="R54b30dbbfaff4a3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2450" y="1219200"/>
            <a:ext cx="6191250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9A664-8682-4E98-80E6-F26BB967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333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Sistema experto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1CF75-90B7-4889-A263-EAEC67AF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52600"/>
            <a:ext cx="3714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Cada nodo conserva entrada, condición, resultado, confianza y justificación. N13000 se abstiene cuando no existe policy validada.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DC039-83A8-4C80-8BC4-DABFC9FD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19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Match Rating V5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06DA5-D352-4CC0-9FAE-10BE43AA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38550"/>
            <a:ext cx="3714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Valoración inmediata por partido. Cobertura 590/590 en el caso de desarrollo. Baseline congelado tras validación técnica.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86928-693F-435F-B703-4FE722B2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768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3889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GPS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FEA56-02D6-44A1-81E7-FD2DBA6E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219700"/>
            <a:ext cx="3714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152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Capa opcional. La demo sintética no se interpreta como fisiología ni permite inferir fatiga o lesión.</a:t>
            </a:r>
          </a:p>
        </p:txBody>
      </p:sp>
    </p:spTree>
    <p:extLst>
      <p:ext uri="{BB962C8B-B14F-4D97-AF65-F5344CB8AC3E}">
        <p14:creationId xmlns:p14="http://schemas.microsoft.com/office/powerpoint/2010/main" val="1557807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8D7142-C3A8-4C61-9DF8-9CBDDC16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Producto final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2EDE5-102D-41CA-A441-A6965AD2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3895A-758C-47AC-93F6-C210BEB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07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7ea1746ae4c79"/>
          <a:stretch xmlns:a="http://schemas.openxmlformats.org/drawingml/2006/main"/>
        </p:blipFill>
        <p:spPr>
          <a:xfrm xmlns:a="http://schemas.openxmlformats.org/drawingml/2006/main">
            <a:off x="590550" y="1351800"/>
            <a:ext cx="5143500" cy="3240000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268c6627e4afc"/>
          <a:stretch xmlns:a="http://schemas.openxmlformats.org/drawingml/2006/main"/>
        </p:blipFill>
        <p:spPr>
          <a:xfrm xmlns:a="http://schemas.openxmlformats.org/drawingml/2006/main">
            <a:off x="6286500" y="1351800"/>
            <a:ext cx="5143500" cy="3240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88C74-6F05-4049-9967-B3139AA2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45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Team Mode sintetiza forma, plantilla y evidencia. Player Mode aporta evolución individual y contexto. Match, GPS y Attention Centre completan la lectura operativa.</a:t>
            </a:r>
          </a:p>
        </p:txBody>
      </p:sp>
    </p:spTree>
    <p:extLst>
      <p:ext uri="{BB962C8B-B14F-4D97-AF65-F5344CB8AC3E}">
        <p14:creationId xmlns:p14="http://schemas.microsoft.com/office/powerpoint/2010/main" val="19237462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D6F13-9885-4281-8F04-F144AB54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Coach Copilot grounded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C5A910-1CEC-48B1-8A78-CD2E3456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7CD36-5EC1-4CE8-87DE-0E1D7DE3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08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dd97496ad46b7"/>
          <a:stretch xmlns:a="http://schemas.openxmlformats.org/drawingml/2006/main"/>
        </p:blipFill>
        <p:spPr>
          <a:xfrm xmlns:a="http://schemas.openxmlformats.org/drawingml/2006/main">
            <a:off x="587573" y="1257300"/>
            <a:ext cx="6502003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785C5-CB2A-418C-A6C3-9D650568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428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91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Pregunta clara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29FED-FB05-4DD5-96AA-3278464F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097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927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AE9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AE9A"/>
                </a:solidFill>
                <a:latin typeface="Arial"/>
                <a:ea typeface="Arial"/>
                <a:cs typeface="Arial"/>
              </a:rPr>
              <a:t>¿Quién corre más distancia por partido?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1F2D8-C8E5-444D-84F6-9F3F5CA5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85750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489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La respuesta se resuelve directamente con herramientas FPS. Python, DuckDB y analytics materializados calculan el resultado.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965C8-E8AA-4363-88D4-A4953889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52437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1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Qwen local u OpenAI BYOK solo intervienen si persiste una ambigüedad dentro del dominio.</a:t>
            </a:r>
          </a:p>
        </p:txBody>
      </p:sp>
    </p:spTree>
    <p:extLst>
      <p:ext uri="{BB962C8B-B14F-4D97-AF65-F5344CB8AC3E}">
        <p14:creationId xmlns:p14="http://schemas.microsoft.com/office/powerpoint/2010/main" val="17262152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87789-B416-4952-8AC3-5D5337BD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Validación y reproducibilidad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50877-A6EC-43A0-8D3D-DEA91212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F4D8-5E69-4C3B-ADC8-A062E23E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09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933450" y="1428750"/>
          <a:ext xmlns:a="http://schemas.openxmlformats.org/drawingml/2006/main" cx="7334250" cy="319087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67125"/>
                <a:gridCol w="3667125"/>
              </a:tblGrid>
              <a:tr h="531813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Gate</a:t>
                      </a:r>
                    </a:p>
                  </a:txBody>
                  <a:tcPr marL="91440" marR="91440" marT="45720" marB="45720">
                    <a:solidFill>
                      <a:srgbClr val="0920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91440" marR="91440" marT="45720" marB="45720">
                    <a:solidFill>
                      <a:srgbClr val="092030"/>
                    </a:solidFill>
                  </a:tcPr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QA end-to-end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/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Demo sintética pública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PASS / redistribuible</a:t>
                      </a:r>
                    </a:p>
                  </a:txBody>
                  <a:tcPr marL="91440" marR="91440" marT="45720" marB="45720"/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Contrato query-space del Coach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PASS en CI</a:t>
                      </a:r>
                    </a:p>
                  </a:txBody>
                  <a:tcPr marL="91440" marR="91440" marT="45720" marB="45720"/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Smoke real del Coach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PASS 28/28 · media 0,4 s</a:t>
                      </a:r>
                    </a:p>
                  </a:txBody>
                  <a:tcPr marL="91440" marR="91440" marT="45720" marB="45720"/>
                </a:tc>
              </a:tr>
              <a:tr h="53181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Datos profesionales en demo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12B3A"/>
                          </a:solidFill>
                          <a:latin typeface="Arial"/>
                          <a:ea typeface="Arial"/>
                          <a:cs typeface="Arial"/>
                        </a:rPr>
                        <a:t>0 filas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52F0D-9501-479B-843E-27CB8339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619250"/>
            <a:ext cx="24288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28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PI1: pipeline y strict-past</a:t>
            </a:r>
          </a:p>
          <a:p xmlns:a="http://schemas.openxmlformats.org/drawingml/2006/main">
            <a:pPr>
              <a:defRPr sz="17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PI2: Coach grounded</a:t>
            </a:r>
          </a:p>
          <a:p xmlns:a="http://schemas.openxmlformats.org/drawingml/2006/main">
            <a:pPr>
              <a:defRPr sz="17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PI3: integración funcional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La evidencia técnica no demuestra impacto causal en decisiones o rendimiento deportivo.</a:t>
            </a:r>
          </a:p>
        </p:txBody>
      </p:sp>
    </p:spTree>
    <p:extLst>
      <p:ext uri="{BB962C8B-B14F-4D97-AF65-F5344CB8AC3E}">
        <p14:creationId xmlns:p14="http://schemas.microsoft.com/office/powerpoint/2010/main" val="9536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498FA-3A62-44C8-B012-18F5911E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Informes y plan B de la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CE7BD-F04C-492C-9B00-BC2DEFF0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80BDE-27E7-48C3-95B3-A8D2D7E9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10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aafd5f9e1e4df4"/>
          <a:stretch xmlns:a="http://schemas.openxmlformats.org/drawingml/2006/main"/>
        </p:blipFill>
        <p:spPr>
          <a:xfrm xmlns:a="http://schemas.openxmlformats.org/drawingml/2006/main">
            <a:off x="1159329" y="1257300"/>
            <a:ext cx="2424793" cy="34290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f183f51bb484e"/>
          <a:stretch xmlns:a="http://schemas.openxmlformats.org/drawingml/2006/main"/>
        </p:blipFill>
        <p:spPr>
          <a:xfrm xmlns:a="http://schemas.openxmlformats.org/drawingml/2006/main">
            <a:off x="4874079" y="1257300"/>
            <a:ext cx="2424793" cy="3429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d3e9fbf9b4931"/>
          <a:stretch xmlns:a="http://schemas.openxmlformats.org/drawingml/2006/main"/>
        </p:blipFill>
        <p:spPr>
          <a:xfrm xmlns:a="http://schemas.openxmlformats.org/drawingml/2006/main">
            <a:off x="8588829" y="1257300"/>
            <a:ext cx="2424793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EAF5-312A-4798-B255-278405BF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387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127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Los informes Team, Player y Match usan resultados materializados. Las capturas y los PDF permiten continuar la defensa si falla la demo en directo.</a:t>
            </a:r>
          </a:p>
        </p:txBody>
      </p:sp>
    </p:spTree>
    <p:extLst>
      <p:ext uri="{BB962C8B-B14F-4D97-AF65-F5344CB8AC3E}">
        <p14:creationId xmlns:p14="http://schemas.microsoft.com/office/powerpoint/2010/main" val="7636532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AAE97-D007-47A3-BE43-E367D708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Limitaciones y trabajo futuro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4525B-3C22-4C86-A0F8-A556A425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1748C-F4D0-4C5B-A6A8-09FF287A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Football Performance System  ·  TFM Data Science e IA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ADE51-F33F-472D-89D5-27FC891A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2B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2B3A"/>
                </a:solidFill>
                <a:latin typeface="Arial"/>
                <a:ea typeface="Arial"/>
                <a:cs typeface="Arial"/>
              </a:rPr>
              <a:t>Límites que se declaran explícitamente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A62EF2-3B56-4287-81FE-64398B0B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5715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Validación externa del Match Rating y del sistema experto</a:t>
            </a:r>
          </a:p>
          <a:p xmlns:a="http://schemas.openxmlformats.org/drawingml/2006/main">
            <a:pPr>
              <a:defRPr sz="18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Fiabilidad interobservador del Data Collector</a:t>
            </a:r>
          </a:p>
          <a:p xmlns:a="http://schemas.openxmlformats.org/drawingml/2006/main">
            <a:pPr>
              <a:defRPr sz="18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GPS real de proveedor</a:t>
            </a:r>
          </a:p>
          <a:p xmlns:a="http://schemas.openxmlformats.org/drawingml/2006/main">
            <a:pPr>
              <a:defRPr sz="18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Validación con entrenadores y analistas</a:t>
            </a:r>
          </a:p>
          <a:p xmlns:a="http://schemas.openxmlformats.org/drawingml/2006/main">
            <a:pPr>
              <a:defRPr sz="1800" b="0">
                <a:solidFill>
                  <a:srgbClr val="5971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9717F"/>
                </a:solidFill>
                <a:latin typeface="Arial"/>
                <a:ea typeface="Arial"/>
                <a:cs typeface="Arial"/>
              </a:rPr>
              <a:t>Benchmark live del proveedor externo BYOK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ED04F-3F24-4F51-933A-61BE736B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8A3B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A3B2B"/>
                </a:solidFill>
                <a:latin typeface="Arial"/>
                <a:ea typeface="Arial"/>
                <a:cs typeface="Arial"/>
              </a:rPr>
              <a:t>El siguiente avance debe validar mejor la evidencia disponible antes de ampliar el producto.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da7f04610c41a5"/>
          <a:stretch xmlns:a="http://schemas.openxmlformats.org/drawingml/2006/main"/>
        </p:blipFill>
        <p:spPr>
          <a:xfrm xmlns:a="http://schemas.openxmlformats.org/drawingml/2006/main">
            <a:off x="7239000" y="1918500"/>
            <a:ext cx="4191000" cy="264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5297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20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EA97F-CC08-4CC0-A601-BD0A0961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4578E-0B63-499B-BAD3-A3B7418C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28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F2A20-EA7F-4140-84DE-DCB2B3DA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FD3D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FD3DA"/>
                </a:solidFill>
                <a:latin typeface="Arial"/>
                <a:ea typeface="Arial"/>
                <a:cs typeface="Arial"/>
              </a:rPr>
              <a:t>Football Performance System  ·  TFM Data Science e IA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8CB48-43D4-45AA-9634-87B6A00A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971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043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 TFM demuestra la viabilidad técnica y arquitectónica de un sistema de rendimiento auditable y reproducible para fútbol amateur y semiprofesional.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3F66D-4A15-4A36-A7E1-B3466701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9E6E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C9E6E3"/>
                </a:solidFill>
                <a:latin typeface="Arial"/>
                <a:ea typeface="Arial"/>
                <a:cs typeface="Arial"/>
              </a:rPr>
              <a:t>La aportación central es separar datos, cálculo crítico, evidencia y lenguaje natural para que el producto pueda explicar sus resultados sin inventarlos.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46EAD-BB3A-42BE-931B-A00410BF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AE9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AE9A"/>
                </a:solidFill>
                <a:latin typeface="Arial"/>
                <a:ea typeface="Arial"/>
                <a:cs typeface="Arial"/>
              </a:rPr>
              <a:t>Demo recomendada: Team Mode · Player Mode · Coach Copilot · PDF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427E8-5244-4761-95B2-F4BDBE9E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721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1916090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2026-10-04T03:20:32.8170000Z</dcterms:created>
  <dcterms:modified xsi:type="dcterms:W3CDTF">2026-10-04T03:20:32.8170000Z</dcterms:modified>
</coreProperties>
</file>