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83c56c15a243e7" /><Relationship Type="http://schemas.openxmlformats.org/officeDocument/2006/relationships/extended-properties" Target="/docProps/app.xml" Id="R513c4d1d060f4435" /><Relationship Type="http://schemas.openxmlformats.org/officeDocument/2006/relationships/officeDocument" Target="/ppt/presentation.xml" Id="R9b03f062aaa8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3fd9dc34774856"/>
  </p:sldMasterIdLst>
  <p:notesMasterIdLst>
    <p:notesMasterId xmlns:r="http://schemas.openxmlformats.org/officeDocument/2006/relationships" r:id="R86763cea072843c0"/>
  </p:notesMasterIdLst>
  <p:sldIdLst>
    <p:sldId xmlns:r="http://schemas.openxmlformats.org/officeDocument/2006/relationships" id="256" r:id="R18e91a87f0044a6d"/>
    <p:sldId xmlns:r="http://schemas.openxmlformats.org/officeDocument/2006/relationships" id="257" r:id="R7fbca4460e88427e"/>
    <p:sldId xmlns:r="http://schemas.openxmlformats.org/officeDocument/2006/relationships" id="258" r:id="R336ff475e8cb45ec"/>
    <p:sldId xmlns:r="http://schemas.openxmlformats.org/officeDocument/2006/relationships" id="259" r:id="R46ee71facd224844"/>
    <p:sldId xmlns:r="http://schemas.openxmlformats.org/officeDocument/2006/relationships" id="260" r:id="R6f951069556346a3"/>
    <p:sldId xmlns:r="http://schemas.openxmlformats.org/officeDocument/2006/relationships" id="261" r:id="Red0133a53eff42cd"/>
    <p:sldId xmlns:r="http://schemas.openxmlformats.org/officeDocument/2006/relationships" id="262" r:id="R070b1316e8914a99"/>
    <p:sldId xmlns:r="http://schemas.openxmlformats.org/officeDocument/2006/relationships" id="263" r:id="R17865e876fdc483d"/>
    <p:sldId xmlns:r="http://schemas.openxmlformats.org/officeDocument/2006/relationships" id="264" r:id="R5e277a53b1434c66"/>
    <p:sldId xmlns:r="http://schemas.openxmlformats.org/officeDocument/2006/relationships" id="265" r:id="R0faa9781f0d24eb1"/>
    <p:sldId xmlns:r="http://schemas.openxmlformats.org/officeDocument/2006/relationships" id="266" r:id="R15372ca63f76410c"/>
    <p:sldId xmlns:r="http://schemas.openxmlformats.org/officeDocument/2006/relationships" id="267" r:id="R1bc97715d1594f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52980f52404af5" /><Relationship Type="http://schemas.openxmlformats.org/officeDocument/2006/relationships/slideMaster" Target="/ppt/slideMasters/slideMaster1.xml" Id="R4b3fd9dc34774856" /><Relationship Type="http://schemas.openxmlformats.org/officeDocument/2006/relationships/notesMaster" Target="/ppt/notesMasters/notesMaster1.xml" Id="R86763cea072843c0" /><Relationship Type="http://schemas.openxmlformats.org/officeDocument/2006/relationships/presProps" Target="/ppt/presProps.xml" Id="Rfb79dbecc76942aa" /><Relationship Type="http://schemas.openxmlformats.org/officeDocument/2006/relationships/tableStyles" Target="/ppt/tableStyles.xml" Id="Rcb8fc78956c945d9" /><Relationship Type="http://schemas.openxmlformats.org/officeDocument/2006/relationships/slide" Target="/ppt/slides/slide1.xml" Id="R18e91a87f0044a6d" /><Relationship Type="http://schemas.openxmlformats.org/officeDocument/2006/relationships/slide" Target="/ppt/slides/slide2.xml" Id="R7fbca4460e88427e" /><Relationship Type="http://schemas.openxmlformats.org/officeDocument/2006/relationships/slide" Target="/ppt/slides/slide3.xml" Id="R336ff475e8cb45ec" /><Relationship Type="http://schemas.openxmlformats.org/officeDocument/2006/relationships/slide" Target="/ppt/slides/slide4.xml" Id="R46ee71facd224844" /><Relationship Type="http://schemas.openxmlformats.org/officeDocument/2006/relationships/slide" Target="/ppt/slides/slide5.xml" Id="R6f951069556346a3" /><Relationship Type="http://schemas.openxmlformats.org/officeDocument/2006/relationships/slide" Target="/ppt/slides/slide6.xml" Id="Red0133a53eff42cd" /><Relationship Type="http://schemas.openxmlformats.org/officeDocument/2006/relationships/slide" Target="/ppt/slides/slide7.xml" Id="R070b1316e8914a99" /><Relationship Type="http://schemas.openxmlformats.org/officeDocument/2006/relationships/slide" Target="/ppt/slides/slide8.xml" Id="R17865e876fdc483d" /><Relationship Type="http://schemas.openxmlformats.org/officeDocument/2006/relationships/slide" Target="/ppt/slides/slide9.xml" Id="R5e277a53b1434c66" /><Relationship Type="http://schemas.openxmlformats.org/officeDocument/2006/relationships/slide" Target="/ppt/slides/slide10.xml" Id="R0faa9781f0d24eb1" /><Relationship Type="http://schemas.openxmlformats.org/officeDocument/2006/relationships/slide" Target="/ppt/slides/slide11.xml" Id="R15372ca63f76410c" /><Relationship Type="http://schemas.openxmlformats.org/officeDocument/2006/relationships/slide" Target="/ppt/slides/slide12.xml" Id="R1bc97715d1594f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f5b9220f15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888b63f884966" /><Relationship Type="http://schemas.openxmlformats.org/officeDocument/2006/relationships/notesMaster" Target="/ppt/notesMasters/notesMaster1.xml" Id="R253de1b485c542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fbf448a1f84bcb" /><Relationship Type="http://schemas.openxmlformats.org/officeDocument/2006/relationships/notesMaster" Target="/ppt/notesMasters/notesMaster1.xml" Id="Rf1771b96e0b14f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a612d0b5847e5" /><Relationship Type="http://schemas.openxmlformats.org/officeDocument/2006/relationships/notesMaster" Target="/ppt/notesMasters/notesMaster1.xml" Id="Rb4f9cb6be3a848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f222f694e4338" /><Relationship Type="http://schemas.openxmlformats.org/officeDocument/2006/relationships/notesMaster" Target="/ppt/notesMasters/notesMaster1.xml" Id="R9b8c02da8bcd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e1d79aa30546e2" /><Relationship Type="http://schemas.openxmlformats.org/officeDocument/2006/relationships/notesMaster" Target="/ppt/notesMasters/notesMaster1.xml" Id="R428d1bc5aae24e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cb452921c74d92" /><Relationship Type="http://schemas.openxmlformats.org/officeDocument/2006/relationships/notesMaster" Target="/ppt/notesMasters/notesMaster1.xml" Id="R3a3c81852e214b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014c0a40e046ab" /><Relationship Type="http://schemas.openxmlformats.org/officeDocument/2006/relationships/notesMaster" Target="/ppt/notesMasters/notesMaster1.xml" Id="R80cb62afb6764e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6c5f81f530414c" /><Relationship Type="http://schemas.openxmlformats.org/officeDocument/2006/relationships/notesMaster" Target="/ppt/notesMasters/notesMaster1.xml" Id="R79476646b3ea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2a1bec6be64efb" /><Relationship Type="http://schemas.openxmlformats.org/officeDocument/2006/relationships/notesMaster" Target="/ppt/notesMasters/notesMaster1.xml" Id="R59087e88a0884e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9260d4b88d44fe" /><Relationship Type="http://schemas.openxmlformats.org/officeDocument/2006/relationships/notesMaster" Target="/ppt/notesMasters/notesMaster1.xml" Id="R2b60074d54fd4d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d04ff878154f8f" /><Relationship Type="http://schemas.openxmlformats.org/officeDocument/2006/relationships/notesMaster" Target="/ppt/notesMasters/notesMaster1.xml" Id="R2d410ff28747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1c7738232346ab" /><Relationship Type="http://schemas.openxmlformats.org/officeDocument/2006/relationships/notesMaster" Target="/ppt/notesMasters/notesMaster1.xml" Id="R7bdd42a7825747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docs/TFM_DEFENSE_OUTLINE.md y docs/TFM_MANUSCRIPT_DRAFT.md. Personalizar autor, tutor, universidad y fecha según la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PROJECT_STATE.md, hipótesis y limitaciones. Captura: docs/screenshots/02_team_mode.png.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docs/figures/tfm_architecture_overview.svg y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collector/event_catalog.json, collector/data_collector_futbol.html y docs/screenshots/01_collector.png.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docs/figures/tfm_strict_past.svg, PROJECT_STATE.md y docs/TFM_METHODOLOGY_DRAFT.md.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docs/figures/tfm_expert_system.svg, PROJECT_STATE.md y docs/DECISIONS.md.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docs/screenshots/02_team_mode.png, 03_player_mode.png, 04_match_mode.png, 05_gps.png y 06_attention.png.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docs/screenshots/07_coach_copilot.png, llm/COACH_COPILOT_CONTRACT.md y docs/figures/tfm_llm_grounding.svg.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PROJECT_STATE.md, publication.validate_synthetic_demo, llm.validate_coach_contract y llm/smoke_test_coach_agent.py.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docs/screenshots/08_pdf_team.png, 09_pdf_player.png y 10_pdf_match.png.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docs/TFM_DISCUSSION_CONCLUSIONS_DRAFT.md, PROJECT_STATE.md y docs/screenshots/06_attention.png.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conclusión sintetizada de docs/TFM_DEFENSE_OUTLINE.md y docs/TFM_DISCUSSION_CONCLUSIONS_DRAFT.md.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708cfbd7a4a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10da66d624089" /><Relationship Type="http://schemas.openxmlformats.org/officeDocument/2006/relationships/slideLayout" Target="/ppt/slideLayouts/slideLayout1.xml" Id="R581a3d70a48143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1a3d70a48143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96571588b4c8a" /><Relationship Type="http://schemas.openxmlformats.org/officeDocument/2006/relationships/notesSlide" Target="/ppt/notesSlides/notesSlide1.xml" Id="Rf116ba95df1d40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1559ec9a244b4" /><Relationship Type="http://schemas.openxmlformats.org/officeDocument/2006/relationships/image" Target="/ppt/media/image.png" Id="Rc25650d1652c4b14" /><Relationship Type="http://schemas.openxmlformats.org/officeDocument/2006/relationships/notesSlide" Target="/ppt/notesSlides/notesSlide2.xml" Id="R9ea50e5c0e8942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95f6c4aca49e9" /><Relationship Type="http://schemas.openxmlformats.org/officeDocument/2006/relationships/image" Target="/ppt/media/image2.png" Id="Rbf8f13663b6e43fc" /><Relationship Type="http://schemas.openxmlformats.org/officeDocument/2006/relationships/image" Target="/ppt/media/image.svg" Id="R65ac0b722d904537" /><Relationship Type="http://schemas.openxmlformats.org/officeDocument/2006/relationships/notesSlide" Target="/ppt/notesSlides/notesSlide3.xml" Id="R2c8c66df30fc4e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1fb2644eb418b" /><Relationship Type="http://schemas.openxmlformats.org/officeDocument/2006/relationships/image" Target="/ppt/media/image3.png" Id="Ra34ffc4fae6d4c38" /><Relationship Type="http://schemas.openxmlformats.org/officeDocument/2006/relationships/notesSlide" Target="/ppt/notesSlides/notesSlide4.xml" Id="Rd307eb5d82ca40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2fbf991624d9b" /><Relationship Type="http://schemas.openxmlformats.org/officeDocument/2006/relationships/image" Target="/ppt/media/image4.png" Id="R73ebd73055f74b5a" /><Relationship Type="http://schemas.openxmlformats.org/officeDocument/2006/relationships/image" Target="/ppt/media/image2.svg" Id="R89dfc41fddd94473" /><Relationship Type="http://schemas.openxmlformats.org/officeDocument/2006/relationships/notesSlide" Target="/ppt/notesSlides/notesSlide5.xml" Id="Rb4be11d7c5e040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b90640ba64101" /><Relationship Type="http://schemas.openxmlformats.org/officeDocument/2006/relationships/image" Target="/ppt/media/image5.png" Id="R1ddce7b9d6b44df9" /><Relationship Type="http://schemas.openxmlformats.org/officeDocument/2006/relationships/image" Target="/ppt/media/image3.svg" Id="R387228d8e4fd4a88" /><Relationship Type="http://schemas.openxmlformats.org/officeDocument/2006/relationships/notesSlide" Target="/ppt/notesSlides/notesSlide6.xml" Id="R7a3897cf73c244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5964f18674d3c" /><Relationship Type="http://schemas.openxmlformats.org/officeDocument/2006/relationships/image" Target="/ppt/media/image6.png" Id="Rebb9af3c92294f63" /><Relationship Type="http://schemas.openxmlformats.org/officeDocument/2006/relationships/image" Target="/ppt/media/image7.png" Id="Rcc80be8c608b41fb" /><Relationship Type="http://schemas.openxmlformats.org/officeDocument/2006/relationships/notesSlide" Target="/ppt/notesSlides/notesSlide7.xml" Id="Ree24710daabe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e360de8e8413d" /><Relationship Type="http://schemas.openxmlformats.org/officeDocument/2006/relationships/image" Target="/ppt/media/image8.png" Id="Rc15e0fe5fd5446a6" /><Relationship Type="http://schemas.openxmlformats.org/officeDocument/2006/relationships/notesSlide" Target="/ppt/notesSlides/notesSlide8.xml" Id="Rfe6184ed228348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5603e0f094997" /><Relationship Type="http://schemas.openxmlformats.org/officeDocument/2006/relationships/notesSlide" Target="/ppt/notesSlides/notesSlide9.xml" Id="Rb2eb11c0e1da40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ce07441394618" /><Relationship Type="http://schemas.openxmlformats.org/officeDocument/2006/relationships/image" Target="/ppt/media/image9.png" Id="R7b7b1b16e3224d62" /><Relationship Type="http://schemas.openxmlformats.org/officeDocument/2006/relationships/image" Target="/ppt/media/image10.png" Id="Rdbb0e3fd536a4c5f" /><Relationship Type="http://schemas.openxmlformats.org/officeDocument/2006/relationships/image" Target="/ppt/media/image11.png" Id="R9da72b7b2c95405f" /><Relationship Type="http://schemas.openxmlformats.org/officeDocument/2006/relationships/notesSlide" Target="/ppt/notesSlides/notesSlide10.xml" Id="R54892be688ba41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e4efb21394be8" /><Relationship Type="http://schemas.openxmlformats.org/officeDocument/2006/relationships/image" Target="/ppt/media/image12.png" Id="R9631183e5bf64504" /><Relationship Type="http://schemas.openxmlformats.org/officeDocument/2006/relationships/notesSlide" Target="/ppt/notesSlides/notesSlide11.xml" Id="R6abbf80ff94648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d67da80d44a45" /><Relationship Type="http://schemas.openxmlformats.org/officeDocument/2006/relationships/notesSlide" Target="/ppt/notesSlides/notesSlide12.xml" Id="R0565c222a22247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A67D6-47D2-4FE9-8956-566211A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D3D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FD3DA"/>
                </a:solidFill>
                <a:latin typeface="Arial"/>
                <a:ea typeface="Arial"/>
                <a:cs typeface="Arial"/>
              </a:rPr>
              <a:t>Football Performance System  ·  TFM Data Science e IA  ·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D80EC-7F7F-4ADC-AB84-0A52DB5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Football Performance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39943-6384-4C22-8A2C-2F5F607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21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9E6E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E6E3"/>
                </a:solidFill>
                <a:latin typeface="Arial"/>
                <a:ea typeface="Arial"/>
                <a:cs typeface="Arial"/>
              </a:rPr>
              <a:t>Sistema auditable de análisis de rendimiento para fútbol amateur y semiprofesional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5F887-8D09-42B4-96E3-4E8230B4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FD3D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FD3DA"/>
                </a:solidFill>
                <a:latin typeface="Arial"/>
                <a:ea typeface="Arial"/>
                <a:cs typeface="Arial"/>
              </a:rPr>
              <a:t>Defensa del Trabajo Final de Máster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FD49C-CFB9-42A4-B813-53BE6706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AE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AE9A"/>
                </a:solidFill>
                <a:latin typeface="Arial"/>
                <a:ea typeface="Arial"/>
                <a:cs typeface="Arial"/>
              </a:rPr>
              <a:t>Producto funcional · demo sintética reproducible · evidencia trazable</a:t>
            </a:r>
          </a:p>
        </p:txBody>
      </p:sp>
    </p:spTree>
    <p:extLst>
      <p:ext uri="{BB962C8B-B14F-4D97-AF65-F5344CB8AC3E}">
        <p14:creationId xmlns:p14="http://schemas.microsoft.com/office/powerpoint/2010/main" val="1548983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3F4F5-1EC0-414F-B928-AE0A311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A9341-205B-4C57-ADD4-B0E3973E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BCA9D-7EA3-4F00-9DF3-4BC643BA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CFC4D-E925-4B35-9EA4-5B6EDC59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4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Un club con vídeo y GPS opcional necesita transformar observaciones sencillas en información útil para equipo, jugador y partido.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FC3A1-9924-43D8-A4DD-250F5B10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El proyecto evalúa la viabilidad técnica y arquitectónica de un sistema integral, auditable y reproducible.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0E3D2-0BC5-4F31-A54A-63E1A662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A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A3B2B"/>
                </a:solidFill>
                <a:latin typeface="Arial"/>
                <a:ea typeface="Arial"/>
                <a:cs typeface="Arial"/>
              </a:rPr>
              <a:t>El TFM no afirma mejoras causales en decisiones, rendimiento deportivo, fatiga ni lesiones.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650d1652c4b14"/>
          <a:srcRect xmlns:a="http://schemas.openxmlformats.org/drawingml/2006/main" l="21434" t="0" r="214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219200"/>
            <a:ext cx="3714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36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DE857-1178-4BE0-9E77-8EFDCA80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Arquitectura y control del cálculo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3FB57-0D60-4784-801A-7B6FCE3E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5958C-B490-4DE9-BA17-870F7C8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f13663b6e43fc">
            <a:extLst>
              <a:ext uri="{96DAC541-7B7A-43D3-8B79-37D633B846F1}">
                <asvg:svgBlip xmlns:asvg="http://schemas.microsoft.com/office/drawing/2016/SVG/main" r:embed="R65ac0b722d9045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219200"/>
            <a:ext cx="723900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754ED-45D4-49E1-9CA1-1B439B1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La capa de presentación consume resultados calculados. No vuelve a crear métricas, rankings ni decisiones.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D319-FF2C-4621-BE0D-2DC4746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Datos observados</a:t>
            </a:r>
          </a:p>
          <a:p xmlns:a="http://schemas.openxmlformats.org/drawingml/2006/main">
            <a:pPr>
              <a:defRPr sz="15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Features strict-past</a:t>
            </a:r>
          </a:p>
          <a:p xmlns:a="http://schemas.openxmlformats.org/drawingml/2006/main">
            <a:pPr>
              <a:defRPr sz="15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Analytics y sistema experto</a:t>
            </a:r>
          </a:p>
          <a:p xmlns:a="http://schemas.openxmlformats.org/drawingml/2006/main">
            <a:pPr>
              <a:defRPr sz="15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Dashboard, PDF y asistente</a:t>
            </a:r>
          </a:p>
        </p:txBody>
      </p:sp>
    </p:spTree>
    <p:extLst>
      <p:ext uri="{BB962C8B-B14F-4D97-AF65-F5344CB8AC3E}">
        <p14:creationId xmlns:p14="http://schemas.microsoft.com/office/powerpoint/2010/main" val="63689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11413-6089-4DD2-807B-B392AF99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Data Collector y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7C045-A41C-40D0-A388-07627498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C45E3-BB63-4E68-8FFE-4C7FD76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ffc4fae6d4c38"/>
          <a:stretch xmlns:a="http://schemas.openxmlformats.org/drawingml/2006/main"/>
        </p:blipFill>
        <p:spPr>
          <a:xfrm xmlns:a="http://schemas.openxmlformats.org/drawingml/2006/main">
            <a:off x="609948" y="1200150"/>
            <a:ext cx="7104954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721DD-DD54-4CC0-8161-C01729F1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1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El Collector registra hechos observables y el contexto de jugador-partido.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3AC11-65A1-488E-8745-14AB315F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Incluye acciones de pase, remate y defensa, minutos, rol y 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No registra xG, PPDA, posesión avanzada ni fatiga manual.</a:t>
            </a:r>
          </a:p>
        </p:txBody>
      </p:sp>
    </p:spTree>
    <p:extLst>
      <p:ext uri="{BB962C8B-B14F-4D97-AF65-F5344CB8AC3E}">
        <p14:creationId xmlns:p14="http://schemas.microsoft.com/office/powerpoint/2010/main" val="406685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001B0-C429-4F7D-BADD-1A01C8D2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Features temporales y leakage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962EA-6BD9-4104-802B-56F47E6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83004-41F8-4BB1-B752-84074C4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bd73055f74b5a">
            <a:extLst>
              <a:ext uri="{96DAC541-7B7A-43D3-8B79-37D633B846F1}">
                <asvg:svgBlip xmlns:asvg="http://schemas.microsoft.com/office/drawing/2016/SVG/main" r:embed="R89dfc41fddd944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1285875"/>
            <a:ext cx="6858000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55D68-79DF-4FD1-A900-5AB56AA2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6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Cada registro utiliza solo la información disponible antes del partido analizado.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221FE-4A4D-4278-B3AA-A18B11C2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3286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FEATURE-02 y FEATURE-03 preservan ausencia de evidencia y evitan que partido actual, misma fecha o futuro informen el baseline.</a:t>
            </a:r>
          </a:p>
        </p:txBody>
      </p:sp>
    </p:spTree>
    <p:extLst>
      <p:ext uri="{BB962C8B-B14F-4D97-AF65-F5344CB8AC3E}">
        <p14:creationId xmlns:p14="http://schemas.microsoft.com/office/powerpoint/2010/main" val="1614153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3FB55-1367-4843-BD15-CF4F04F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Sistema experto, Match Rating y GPS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2527A-75D8-402B-9B49-51CA7A27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CEC9B-DBCF-4A18-9074-807BE114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ce7b9d6b44df9">
            <a:extLst>
              <a:ext uri="{96DAC541-7B7A-43D3-8B79-37D633B846F1}">
                <asvg:svgBlip xmlns:asvg="http://schemas.microsoft.com/office/drawing/2016/SVG/main" r:embed="R387228d8e4fd4a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1219200"/>
            <a:ext cx="619125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EF87A-9D75-4ABA-8E29-C0A998E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33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Sistema experto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D69F4-BB53-4C5B-877F-0672214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Cada nodo conserva entrada, condición, resultado, confianza y justificación. N13000 se abstiene cuando no existe policy validada.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C2BEE-7B6D-4F34-A8B5-975A28C5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Match Rating V5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ABF38-BB2A-4A83-8588-4019C6C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Valoración inmediata por partido. Cobertura 590/590 en el caso de desarrollo. Baseline congelado tras validación técnica.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27BD9-A193-4AE2-BB92-BD25511C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76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B3E76-DA47-425C-9A7C-F1D2E3E2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Capa opcional. La demo sintética no se interpreta como fisiología ni permite inferir fatiga o lesión.</a:t>
            </a:r>
          </a:p>
        </p:txBody>
      </p:sp>
    </p:spTree>
    <p:extLst>
      <p:ext uri="{BB962C8B-B14F-4D97-AF65-F5344CB8AC3E}">
        <p14:creationId xmlns:p14="http://schemas.microsoft.com/office/powerpoint/2010/main" val="1833282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ED486-500B-41A7-B398-CF30F7A1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Producto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E6426-94D6-4302-8536-2752B8A2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F543E-1FE7-45A5-8708-44609415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9af3c92294f63"/>
          <a:stretch xmlns:a="http://schemas.openxmlformats.org/drawingml/2006/main"/>
        </p:blipFill>
        <p:spPr>
          <a:xfrm xmlns:a="http://schemas.openxmlformats.org/drawingml/2006/main">
            <a:off x="590550" y="1351800"/>
            <a:ext cx="5143500" cy="3240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0be8c608b41fb"/>
          <a:stretch xmlns:a="http://schemas.openxmlformats.org/drawingml/2006/main"/>
        </p:blipFill>
        <p:spPr>
          <a:xfrm xmlns:a="http://schemas.openxmlformats.org/drawingml/2006/main">
            <a:off x="6286500" y="1351800"/>
            <a:ext cx="5143500" cy="324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F856B-B3A5-43CB-9564-9257265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Team Mode sintetiza forma, plantilla y evidencia. Player Mode aporta evolución individual y contexto. Match, GPS y Attention Centre completan la lectura operativa.</a:t>
            </a:r>
          </a:p>
        </p:txBody>
      </p:sp>
    </p:spTree>
    <p:extLst>
      <p:ext uri="{BB962C8B-B14F-4D97-AF65-F5344CB8AC3E}">
        <p14:creationId xmlns:p14="http://schemas.microsoft.com/office/powerpoint/2010/main" val="1600129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D379A-3FA2-49BD-8AD8-D80F6827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Coach Copilot grounded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1754B-155D-45CC-9212-209A9D48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BC0A5-26C9-4E8E-83FF-1E44E597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e0fe5fd5446a6"/>
          <a:stretch xmlns:a="http://schemas.openxmlformats.org/drawingml/2006/main"/>
        </p:blipFill>
        <p:spPr>
          <a:xfrm xmlns:a="http://schemas.openxmlformats.org/drawingml/2006/main">
            <a:off x="587573" y="1257300"/>
            <a:ext cx="6502003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E000C-5324-4094-8E20-FB7DFE9B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Pregunta clara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015A3-9C4C-40B9-871A-40A38FC6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AE9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AE9A"/>
                </a:solidFill>
                <a:latin typeface="Arial"/>
                <a:ea typeface="Arial"/>
                <a:cs typeface="Arial"/>
              </a:rPr>
              <a:t>¿Quién corre más distancia por partido?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6FDC8-CA60-4963-88F3-B97CF5B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8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La respuesta se resuelve directamente con herramientas FPS. Python, DuckDB y analytics materializados calculan el resultado.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01F13-5F98-4A82-BEC1-2C737B4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Qwen local u OpenAI BYOK solo intervienen si persiste una ambigüedad dentro del dominio.</a:t>
            </a:r>
          </a:p>
        </p:txBody>
      </p:sp>
    </p:spTree>
    <p:extLst>
      <p:ext uri="{BB962C8B-B14F-4D97-AF65-F5344CB8AC3E}">
        <p14:creationId xmlns:p14="http://schemas.microsoft.com/office/powerpoint/2010/main" val="1546308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2923F-60CD-47D2-A104-6EB97EF1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Validación y reproducibilidad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A0997-3311-4499-929C-1E23E854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E850C-8BA0-456F-AE0A-11171CD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33450" y="1428750"/>
          <a:ext xmlns:a="http://schemas.openxmlformats.org/drawingml/2006/main" cx="7334250" cy="3190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67125"/>
                <a:gridCol w="3667125"/>
              </a:tblGrid>
              <a:tr h="531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092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092030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QA end-to-end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Demo sintética pública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PASS / redistribuible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Contrato query-space del Coach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PASS en CI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Smoke real del Coach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PASS 28/28 · media 0,4 s</a:t>
                      </a:r>
                    </a:p>
                  </a:txBody>
                  <a:tcPr marL="91440" marR="91440" marT="45720" marB="45720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Datos profesionales en demo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2B3A"/>
                          </a:solidFill>
                          <a:latin typeface="Arial"/>
                          <a:ea typeface="Arial"/>
                          <a:cs typeface="Arial"/>
                        </a:rPr>
                        <a:t>0 filas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80117-AD84-42DE-AF9C-3F007B59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90700"/>
            <a:ext cx="2428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38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La validación técnica demuestra que el sistema funciona de forma reproducible. No demuestra impacto causal en decisiones o rendimiento deportivo.</a:t>
            </a:r>
          </a:p>
        </p:txBody>
      </p:sp>
    </p:spTree>
    <p:extLst>
      <p:ext uri="{BB962C8B-B14F-4D97-AF65-F5344CB8AC3E}">
        <p14:creationId xmlns:p14="http://schemas.microsoft.com/office/powerpoint/2010/main" val="1909347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05589-65E0-4F1E-992A-9BF72596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Informes y plan B de la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EA96D-744C-48C6-B222-5865D51D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6131A-82FE-4734-9FA1-4F349296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b1b16e3224d62"/>
          <a:stretch xmlns:a="http://schemas.openxmlformats.org/drawingml/2006/main"/>
        </p:blipFill>
        <p:spPr>
          <a:xfrm xmlns:a="http://schemas.openxmlformats.org/drawingml/2006/main">
            <a:off x="1159329" y="1257300"/>
            <a:ext cx="2424793" cy="3429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0e3fd536a4c5f"/>
          <a:stretch xmlns:a="http://schemas.openxmlformats.org/drawingml/2006/main"/>
        </p:blipFill>
        <p:spPr>
          <a:xfrm xmlns:a="http://schemas.openxmlformats.org/drawingml/2006/main">
            <a:off x="4874079" y="1257300"/>
            <a:ext cx="2424793" cy="3429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72b7b2c95405f"/>
          <a:stretch xmlns:a="http://schemas.openxmlformats.org/drawingml/2006/main"/>
        </p:blipFill>
        <p:spPr>
          <a:xfrm xmlns:a="http://schemas.openxmlformats.org/drawingml/2006/main">
            <a:off x="8588829" y="1257300"/>
            <a:ext cx="2424793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89440-37F1-48C3-98AC-EFFE60D8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Los informes Team, Player y Match usan resultados materializados. Las capturas y los PDF permiten continuar la defensa si falla la demo en directo.</a:t>
            </a:r>
          </a:p>
        </p:txBody>
      </p:sp>
    </p:spTree>
    <p:extLst>
      <p:ext uri="{BB962C8B-B14F-4D97-AF65-F5344CB8AC3E}">
        <p14:creationId xmlns:p14="http://schemas.microsoft.com/office/powerpoint/2010/main" val="1347393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AA2A8-6CC3-45FA-975D-F2C6F857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Limitaciones y trabajo futuro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A73CA-DE27-4330-A823-5FC13306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1E66D-06C4-4510-BCA6-2744C8AA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Football Performance System  ·  TFM Data Science e IA  ·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BF301-307C-4EAF-BC59-FED03FB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B3A"/>
                </a:solidFill>
                <a:latin typeface="Arial"/>
                <a:ea typeface="Arial"/>
                <a:cs typeface="Arial"/>
              </a:rPr>
              <a:t>Límites que se declaran explícitamente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D5AFD-8F25-476A-9607-3CD269A2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71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Validación externa del Match Rating y del sistema experto</a:t>
            </a:r>
          </a:p>
          <a:p xmlns:a="http://schemas.openxmlformats.org/drawingml/2006/main">
            <a:pPr>
              <a:defRPr sz="18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Fiabilidad interobservador del Data Collector</a:t>
            </a:r>
          </a:p>
          <a:p xmlns:a="http://schemas.openxmlformats.org/drawingml/2006/main">
            <a:pPr>
              <a:defRPr sz="18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GPS real de proveedor</a:t>
            </a:r>
          </a:p>
          <a:p xmlns:a="http://schemas.openxmlformats.org/drawingml/2006/main">
            <a:pPr>
              <a:defRPr sz="18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Validación con entrenadores y analistas</a:t>
            </a:r>
          </a:p>
          <a:p xmlns:a="http://schemas.openxmlformats.org/drawingml/2006/main">
            <a:pPr>
              <a:defRPr sz="1800" b="0">
                <a:solidFill>
                  <a:srgbClr val="5971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717F"/>
                </a:solidFill>
                <a:latin typeface="Arial"/>
                <a:ea typeface="Arial"/>
                <a:cs typeface="Arial"/>
              </a:rPr>
              <a:t>Benchmark live del proveedor externo BYOK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D66EC-FF4D-40D0-9442-FD7CA8F1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A3B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B2B"/>
                </a:solidFill>
                <a:latin typeface="Arial"/>
                <a:ea typeface="Arial"/>
                <a:cs typeface="Arial"/>
              </a:rPr>
              <a:t>El siguiente avance debe validar mejor la evidencia disponible antes de ampliar el producto.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1183e5bf64504"/>
          <a:stretch xmlns:a="http://schemas.openxmlformats.org/drawingml/2006/main"/>
        </p:blipFill>
        <p:spPr>
          <a:xfrm xmlns:a="http://schemas.openxmlformats.org/drawingml/2006/main">
            <a:off x="7239000" y="1918500"/>
            <a:ext cx="4191000" cy="264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236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2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4A681-9DBA-4901-8AD2-D34C37EA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207F8-6BF2-415B-860E-C5D88AAA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277A4-F54A-4898-A811-F29EB19D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D3D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FD3DA"/>
                </a:solidFill>
                <a:latin typeface="Arial"/>
                <a:ea typeface="Arial"/>
                <a:cs typeface="Arial"/>
              </a:rPr>
              <a:t>Football Performance System  ·  TFM Data Science e IA  ·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9421A-F25E-4652-8A90-6CF1D88E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971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43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TFM demuestra la viabilidad técnica y arquitectónica de un sistema de rendimiento auditable y reproducible para fútbol amateur y semiprofesional.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D2C86-23B4-4D32-810E-020BDF72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9E6E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E6E3"/>
                </a:solidFill>
                <a:latin typeface="Arial"/>
                <a:ea typeface="Arial"/>
                <a:cs typeface="Arial"/>
              </a:rPr>
              <a:t>La aportación central es separar datos, cálculo crítico, evidencia y lenguaje natural para que el producto pueda explicar sus resultados sin inventarlos.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0828B-C52B-4BBF-A945-2B77653C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AE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AE9A"/>
                </a:solidFill>
                <a:latin typeface="Arial"/>
                <a:ea typeface="Arial"/>
                <a:cs typeface="Arial"/>
              </a:rPr>
              <a:t>Demo recomendada: Team Mode · Player Mode · Coach Copilot ·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C4631-B500-440E-B4F5-03C714AD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705634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2026-10-04T02:56:56.0180000Z</dcterms:created>
  <dcterms:modified xsi:type="dcterms:W3CDTF">2026-10-04T02:56:56.0180000Z</dcterms:modified>
</coreProperties>
</file>