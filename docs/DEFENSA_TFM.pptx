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5b00dd41e4757" /><Relationship Type="http://schemas.openxmlformats.org/officeDocument/2006/relationships/extended-properties" Target="/docProps/app.xml" Id="R9d26195195e74e48" /><Relationship Type="http://schemas.openxmlformats.org/officeDocument/2006/relationships/officeDocument" Target="/ppt/presentation.xml" Id="R200678f52746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0f0813d8a4a14"/>
  </p:sldMasterIdLst>
  <p:notesMasterIdLst>
    <p:notesMasterId xmlns:r="http://schemas.openxmlformats.org/officeDocument/2006/relationships" r:id="Rb13048964c8845b6"/>
  </p:notesMasterIdLst>
  <p:sldIdLst>
    <p:sldId xmlns:r="http://schemas.openxmlformats.org/officeDocument/2006/relationships" id="256" r:id="Rbe7b253d62e04cc2"/>
    <p:sldId xmlns:r="http://schemas.openxmlformats.org/officeDocument/2006/relationships" id="257" r:id="R5264c18021f24150"/>
    <p:sldId xmlns:r="http://schemas.openxmlformats.org/officeDocument/2006/relationships" id="258" r:id="Rf5863c2f36234139"/>
    <p:sldId xmlns:r="http://schemas.openxmlformats.org/officeDocument/2006/relationships" id="259" r:id="R7622a3e272bb4d99"/>
    <p:sldId xmlns:r="http://schemas.openxmlformats.org/officeDocument/2006/relationships" id="260" r:id="Rf644f8f69c894bc2"/>
    <p:sldId xmlns:r="http://schemas.openxmlformats.org/officeDocument/2006/relationships" id="261" r:id="R0fe9aaf469904616"/>
    <p:sldId xmlns:r="http://schemas.openxmlformats.org/officeDocument/2006/relationships" id="262" r:id="R44b9923be6164202"/>
    <p:sldId xmlns:r="http://schemas.openxmlformats.org/officeDocument/2006/relationships" id="263" r:id="Re6db0c267c264f50"/>
    <p:sldId xmlns:r="http://schemas.openxmlformats.org/officeDocument/2006/relationships" id="264" r:id="Rc7609f2d81744a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6623697dba41ff" /><Relationship Type="http://schemas.openxmlformats.org/officeDocument/2006/relationships/slideMaster" Target="/ppt/slideMasters/slideMaster1.xml" Id="Rd9d0f0813d8a4a14" /><Relationship Type="http://schemas.openxmlformats.org/officeDocument/2006/relationships/notesMaster" Target="/ppt/notesMasters/notesMaster1.xml" Id="Rb13048964c8845b6" /><Relationship Type="http://schemas.openxmlformats.org/officeDocument/2006/relationships/presProps" Target="/ppt/presProps.xml" Id="R1dc3dc5c0d524a7d" /><Relationship Type="http://schemas.openxmlformats.org/officeDocument/2006/relationships/tableStyles" Target="/ppt/tableStyles.xml" Id="R25313f800d8044a3" /><Relationship Type="http://schemas.openxmlformats.org/officeDocument/2006/relationships/slide" Target="/ppt/slides/slide1.xml" Id="Rbe7b253d62e04cc2" /><Relationship Type="http://schemas.openxmlformats.org/officeDocument/2006/relationships/slide" Target="/ppt/slides/slide2.xml" Id="R5264c18021f24150" /><Relationship Type="http://schemas.openxmlformats.org/officeDocument/2006/relationships/slide" Target="/ppt/slides/slide3.xml" Id="Rf5863c2f36234139" /><Relationship Type="http://schemas.openxmlformats.org/officeDocument/2006/relationships/slide" Target="/ppt/slides/slide4.xml" Id="R7622a3e272bb4d99" /><Relationship Type="http://schemas.openxmlformats.org/officeDocument/2006/relationships/slide" Target="/ppt/slides/slide5.xml" Id="Rf644f8f69c894bc2" /><Relationship Type="http://schemas.openxmlformats.org/officeDocument/2006/relationships/slide" Target="/ppt/slides/slide6.xml" Id="R0fe9aaf469904616" /><Relationship Type="http://schemas.openxmlformats.org/officeDocument/2006/relationships/slide" Target="/ppt/slides/slide7.xml" Id="R44b9923be6164202" /><Relationship Type="http://schemas.openxmlformats.org/officeDocument/2006/relationships/slide" Target="/ppt/slides/slide8.xml" Id="Re6db0c267c264f50" /><Relationship Type="http://schemas.openxmlformats.org/officeDocument/2006/relationships/slide" Target="/ppt/slides/slide9.xml" Id="Rc7609f2d8174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551778f28a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00b5fd2b0e4955" /><Relationship Type="http://schemas.openxmlformats.org/officeDocument/2006/relationships/notesMaster" Target="/ppt/notesMasters/notesMaster1.xml" Id="R54fb35dcf9bf4f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f11039ab14406f" /><Relationship Type="http://schemas.openxmlformats.org/officeDocument/2006/relationships/notesMaster" Target="/ppt/notesMasters/notesMaster1.xml" Id="R38ecf675159946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911f41bd4348a8" /><Relationship Type="http://schemas.openxmlformats.org/officeDocument/2006/relationships/notesMaster" Target="/ppt/notesMasters/notesMaster1.xml" Id="R0f667fb7c7de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e80b0031384ba3" /><Relationship Type="http://schemas.openxmlformats.org/officeDocument/2006/relationships/notesMaster" Target="/ppt/notesMasters/notesMaster1.xml" Id="R7d9f539381314e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70c14049ef493b" /><Relationship Type="http://schemas.openxmlformats.org/officeDocument/2006/relationships/notesMaster" Target="/ppt/notesMasters/notesMaster1.xml" Id="R90b4e830f7134b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e58b894014b2f" /><Relationship Type="http://schemas.openxmlformats.org/officeDocument/2006/relationships/notesMaster" Target="/ppt/notesMasters/notesMaster1.xml" Id="R0d6281c225ff44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0c4ca16bbf4a60" /><Relationship Type="http://schemas.openxmlformats.org/officeDocument/2006/relationships/notesMaster" Target="/ppt/notesMasters/notesMaster1.xml" Id="R9442d5d285d041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6f298ff8d4419b" /><Relationship Type="http://schemas.openxmlformats.org/officeDocument/2006/relationships/notesMaster" Target="/ppt/notesMasters/notesMaster1.xml" Id="R7b863019aa6b42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0d7dbdd91f4508" /><Relationship Type="http://schemas.openxmlformats.org/officeDocument/2006/relationships/notesMaster" Target="/ppt/notesMasters/notesMaster1.xml" Id="Rbf016efeae4d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Fuente: docs/TFM_FINAL.pdf y docs/TFM_FINAL.docx.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TFM_FINAL, introducción. No se intenta reproducir proveedores profesionales; se plantea un sistema viable para el contexto objetivo.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docs/figures/tfm_architecture_overview.svg y TFM_FINAL, arquitectura. La diapositiva condensa el mismo flujo para lectura presencial.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 actual del Collector y TFM_FINAL, metodología strict-past. La línea temporal se ha redibujado con formas nativas para facilitar la lectura presencial.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TFM_FINAL, Match Rating V5 y motor experto. La figura se condensa para mostrar la secuencia funcional de los 13 módulos de forma legible.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capturas finales de Team, Player y Match. Coach Copilot consume evidencia estructurada mediante tools read-only; no ejecuta cálculos críticos ni accede directamente a DuckDB.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TFM_FINAL, resultados y validación. Alcance: validación técnico-funcional, no validez deportiva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TFM_FINAL, limitaciones y amenazas a la validez.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TFM_FINAL, conclusiones.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a520bf15a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0e25e447d4014" /><Relationship Type="http://schemas.openxmlformats.org/officeDocument/2006/relationships/slideLayout" Target="/ppt/slideLayouts/slideLayout1.xml" Id="Rf685a6b6bde2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85a6b6bde2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656ed8a034980" /><Relationship Type="http://schemas.openxmlformats.org/officeDocument/2006/relationships/notesSlide" Target="/ppt/notesSlides/notesSlide1.xml" Id="R849523e77d1f42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ba2125bd94d83" /><Relationship Type="http://schemas.openxmlformats.org/officeDocument/2006/relationships/notesSlide" Target="/ppt/notesSlides/notesSlide2.xml" Id="R63343042ca5248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527b57e12412a" /><Relationship Type="http://schemas.openxmlformats.org/officeDocument/2006/relationships/notesSlide" Target="/ppt/notesSlides/notesSlide3.xml" Id="R0ff904db29db4b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35714c8244ae6" /><Relationship Type="http://schemas.openxmlformats.org/officeDocument/2006/relationships/image" Target="/ppt/media/image.jpeg" Id="R45dd7005150346d0" /><Relationship Type="http://schemas.openxmlformats.org/officeDocument/2006/relationships/notesSlide" Target="/ppt/notesSlides/notesSlide4.xml" Id="Refd8c94926b0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ff439d4fc4973" /><Relationship Type="http://schemas.openxmlformats.org/officeDocument/2006/relationships/notesSlide" Target="/ppt/notesSlides/notesSlide5.xml" Id="Rf36e38f8fdbd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af937b51441ea" /><Relationship Type="http://schemas.openxmlformats.org/officeDocument/2006/relationships/image" Target="/ppt/media/image2.jpeg" Id="Rd8226658c3634629" /><Relationship Type="http://schemas.openxmlformats.org/officeDocument/2006/relationships/image" Target="/ppt/media/image3.jpeg" Id="R59d3197943d54cb1" /><Relationship Type="http://schemas.openxmlformats.org/officeDocument/2006/relationships/image" Target="/ppt/media/image4.jpeg" Id="R63eb67a7af184c86" /><Relationship Type="http://schemas.openxmlformats.org/officeDocument/2006/relationships/notesSlide" Target="/ppt/notesSlides/notesSlide6.xml" Id="R962fc63240f5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d947bae74875" /><Relationship Type="http://schemas.openxmlformats.org/officeDocument/2006/relationships/notesSlide" Target="/ppt/notesSlides/notesSlide7.xml" Id="R0dbe11960e174a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4f8402734961" /><Relationship Type="http://schemas.openxmlformats.org/officeDocument/2006/relationships/notesSlide" Target="/ppt/notesSlides/notesSlide8.xml" Id="Rd928cfe2d6bb40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e765d85cb4b9e" /><Relationship Type="http://schemas.openxmlformats.org/officeDocument/2006/relationships/notesSlide" Target="/ppt/notesSlides/notesSlide9.xml" Id="R0450f3a6ba2748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B2A37-58AF-4CE9-8BE0-C853EC1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5E7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CFF2E-A654-4547-8AE9-ECA3B68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FOOTBALL PERFORMANCE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2156F-A9E8-4380-A1BF-17CD0082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6E4E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ED"/>
                </a:solidFill>
                <a:latin typeface="Arial"/>
                <a:ea typeface="Arial"/>
                <a:cs typeface="Arial"/>
              </a:rPr>
              <a:t>Sistema auditable de análisis del rendimiento futbolístico</a:t>
            </a:r>
          </a:p>
          <a:p xmlns:a="http://schemas.openxmlformats.org/drawingml/2006/main">
            <a:pPr>
              <a:defRPr sz="1875" b="0">
                <a:solidFill>
                  <a:srgbClr val="D6E4E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ED"/>
                </a:solidFill>
                <a:latin typeface="Arial"/>
                <a:ea typeface="Arial"/>
                <a:cs typeface="Arial"/>
              </a:rPr>
              <a:t>para equipos amateur y semiprofesionales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1315A-BE69-4F1E-9450-DAA65F41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Trabajo Final de Máster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3173-48D1-4117-AAF3-F6E20F5C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Máster en Data Science &amp; Big Data con IA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Evolve Academy · 2026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Sergi Ferrer Juanola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666C0-2627-4519-9946-0A7E6C5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DC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DCE0"/>
                </a:solidFill>
                <a:latin typeface="Arial"/>
                <a:ea typeface="Arial"/>
                <a:cs typeface="Arial"/>
              </a:rPr>
              <a:t>Dato  ·  Modelo  ·  Despliegue  ·  Impacto</a:t>
            </a:r>
          </a:p>
        </p:txBody>
      </p:sp>
    </p:spTree>
    <p:extLst>
      <p:ext uri="{BB962C8B-B14F-4D97-AF65-F5344CB8AC3E}">
        <p14:creationId xmlns:p14="http://schemas.microsoft.com/office/powerpoint/2010/main" val="1882492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2A800-BCA3-4A71-913B-5E95D60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88AA-12CF-4F4D-966D-5843C775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39C62-2809-4ADF-B53F-89C21CF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Datos disponibles sin una infraestructura analítica equivalente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50AB8-6C31-49EA-8834-6946765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71C9A-B943-489E-B6F4-37E81DF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VÍDEO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9EABD-05AC-49C1-B6B8-0688297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+ GPS opcional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A79AE-53DF-41E2-ACC8-156511CF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18097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65C90-2DEF-4277-9826-C7F028F9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85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FC759-C44F-4C6D-8785-DF80DED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8097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AD997-8804-4E4A-AE5C-85D6A8B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09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ENTRENADOR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D01AA-841E-457C-899B-E0BBD99A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0955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solidFill>
              <a:srgbClr val="EAF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43C66-2019-4995-B001-5340357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Pocos recursos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EE567-2982-4C0F-BB8A-6909366B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solidFill>
              <a:srgbClr val="EAF2F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CD5E0-8A05-4127-B181-FC77E18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Poco tiempo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E4FF3-4349-41DD-9D4F-2D9697A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667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solidFill>
              <a:srgbClr val="EAF2F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7E22B-775A-4FCF-81AE-C47292C3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Datos manuales limitados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2AAD3-51DD-4481-ADAF-EA29F8C3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El objetivo es construir una solución viable para fútbol amateur y semiprofesional.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BDEB7-AB24-4902-AE12-69205AD7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2/9</a:t>
            </a:r>
          </a:p>
        </p:txBody>
      </p:sp>
    </p:spTree>
    <p:extLst>
      <p:ext uri="{BB962C8B-B14F-4D97-AF65-F5344CB8AC3E}">
        <p14:creationId xmlns:p14="http://schemas.microsoft.com/office/powerpoint/2010/main" val="655487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4915B1-8FC3-4DA4-B44D-E314A6E6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BAA2-8F3A-4A5F-817E-F4B6603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Arquitectura y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443A-4DEC-470F-939E-8CBD46A1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La unidad principal es jugador-partido; GPS opcional y estrictamente descriptivo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27666-4328-4AEF-8FCC-11A28E26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E1F8B-AE71-4C3F-BFDA-F657DC1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C18F4-54C8-4CB7-AF1A-7E91575B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Collector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FC883-3C2D-4576-949C-5A8E410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hechos observables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D2D34-D5F4-4D67-84CE-07D2297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479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0FA42-E1A3-4BE7-B3B1-1A388976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0B074-6ABB-4C5F-B5DE-16C1105B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622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DuckDB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01B51-45DB-4C9B-B34D-6A73884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raw auditable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73B74-9A68-4682-9FF1-73E83842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479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FD30F-1673-406F-B83D-7391FE78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31A5F-E0A1-494B-96FD-75947E2B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622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Feature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7F49C-7EB3-4ACE-823E-66FCC3E5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strict-past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5E21-0DEB-4CF2-8D15-8F338BE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479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B2968-F3A6-4D1E-BD9D-ECE4FB0F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0A154-670A-425D-B855-B32E0A8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A3652-7696-465B-86B7-F2BC8C8F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histórico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C9ADD-C605-46D1-AA56-69A64BA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479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F20D5-3181-440A-899D-4C6EABA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5AF65-AB7F-473A-9910-46FB9A2C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51CF0-553C-4725-8F96-865A79C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Rating V5 · experto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D4A89-43E0-45D0-A9E2-B03B750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86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A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86318-C00F-4293-BC8C-FA11DF4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05200"/>
            <a:ext cx="3048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BB967-7521-4C64-8262-CAEE966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10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B764D-915E-439C-B1C0-D131248F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0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2DED4-C924-4B74-A329-B1264D8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43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Team · Player · Match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B249F-115B-49D8-B90A-F46B3570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1485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2C99E-3B0B-4113-8F98-7E16F5CD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10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6C422-C184-4A03-AC76-6A649FA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40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Coach Copilot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5424C-C17F-42F4-A594-54E9D55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43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consulta grounded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76678-621E-4BC7-AF8F-D0562C94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51485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26C08-ABD7-4FF7-8531-B5EC7A9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10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3F1BAE-093E-4069-9EFF-37A0755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40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76F0C-1329-4F6B-99DC-F81574A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434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informe técnico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DAE543-EE40-47AB-9FB2-2E0B0B5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00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Separación explícita: raw → features → analytics → decisión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1F752B-3327-47C4-BA67-B855946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81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Arquitectura detallada y contrato de datos: memoria y anexos.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BD0D8-1CCF-4180-AAC4-AC4DE503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3/9</a:t>
            </a:r>
          </a:p>
        </p:txBody>
      </p:sp>
    </p:spTree>
    <p:extLst>
      <p:ext uri="{BB962C8B-B14F-4D97-AF65-F5344CB8AC3E}">
        <p14:creationId xmlns:p14="http://schemas.microsoft.com/office/powerpoint/2010/main" val="850526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CD3DB-5BC9-4B8C-AB34-0DC9B55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E4881-B425-4D55-A9C1-B1D6E22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Dato y control temporal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0EDDF-636C-4A3C-B02C-C895C9C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El Data Collector registra hechos observables; las métricas avanzadas se derivan después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7AAF1-DF23-4EE7-A05F-EEECED31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d7005150346d0"/>
          <a:stretch xmlns:a="http://schemas.openxmlformats.org/drawingml/2006/main"/>
        </p:blipFill>
        <p:spPr>
          <a:xfrm xmlns:a="http://schemas.openxmlformats.org/drawingml/2006/main">
            <a:off x="609600" y="1856443"/>
            <a:ext cx="5810250" cy="3764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6BF86-0E03-4866-BB9E-9C79B5FF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Collector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C74EE-7D86-4C00-9F30-5BBF40C4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Jugador · titularidad · rol inicial · lado · acciones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F4980-699C-4C96-82E2-38EC88EC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strict-past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9643D-C07C-4283-B822-C849C7E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241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Para construir la feature del partido t, solo entran partidos con fecha estrictamente anterior.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34F0C-2F06-4227-A7CE-7B4D208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1AD8D-2650-4970-8075-F2B51163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337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Partido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B9CD8-B2D2-4989-B87E-702CD84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528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pasado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ED109-D216-4FF2-A4FC-956714D1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6232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D6CAF-48B6-421F-A31F-F4F9198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D987F-1356-4376-813C-18D0CC2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337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Partido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8E063-456D-4701-9ED1-2787F59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5528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pasado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D8808-5857-4398-B87E-5D0FC69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763BB-DFF9-4EC3-8D0A-41F2117C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DA173-0725-4113-8958-D278208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Partido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0C714-BEA8-4CD9-B059-9FD37A5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528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pasado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D24E4-57C7-49FF-8D44-E857180E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1238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5D57"/>
          </a:solidFill>
          <a:ln xmlns:a="http://schemas.openxmlformats.org/drawingml/2006/main" w="0">
            <a:solidFill>
              <a:srgbClr val="C65D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252B-EAF8-42BB-BA08-47219DF9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90875"/>
            <a:ext cx="87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4"/>
          </a:solidFill>
          <a:ln xmlns:a="http://schemas.openxmlformats.org/drawingml/2006/main" w="9525">
            <a:solidFill>
              <a:srgbClr val="C65D5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2C68C-E862-4B97-8714-B1C6E8D8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3337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FECHA 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31BFD-F2AF-494F-B995-382D4754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52825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65D57"/>
                </a:solidFill>
                <a:latin typeface="Arial"/>
                <a:ea typeface="Arial"/>
                <a:cs typeface="Arial"/>
              </a:rPr>
              <a:t>partido actual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FD0C6-1627-4813-AA0F-065C4DC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C5EFA-BEB5-4B05-8630-AA6D151C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2"/>
          </a:solidFill>
          <a:ln xmlns:a="http://schemas.openxmlformats.org/drawingml/2006/main" w="9525">
            <a:solidFill>
              <a:srgbClr val="0D7E8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6C1C5-D03B-4389-A633-DE242C8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91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Feature histórica de 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B3685-2022-4C9A-BC31-1340A9DF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Misma fecha y futuro: excluidos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0E121-8F7A-4582-BF41-434C7AD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4/9</a:t>
            </a:r>
          </a:p>
        </p:txBody>
      </p:sp>
    </p:spTree>
    <p:extLst>
      <p:ext uri="{BB962C8B-B14F-4D97-AF65-F5344CB8AC3E}">
        <p14:creationId xmlns:p14="http://schemas.microsoft.com/office/powerpoint/2010/main" val="20303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92CD0C-E76E-42D1-921C-DBF3D21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8F88B-377A-4142-A85D-F1BB6505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Modelo: Match Rating V5 y motor experto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53DA7-3D1D-451F-BD21-1FFED56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Dos capas auditables con abstención explícita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048E1-0C25-4A5E-9279-19E1339F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8114-E433-452E-9592-B1E57BF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MATCH RATING V5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D4E67-3B37-4B3B-9AB5-B400EC6D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Toda aparición jugada termina en una única ruta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69EC-E601-48E5-82C4-262183F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95A81-5D94-4234-BC35-3B58F69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860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6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Rol de campo fiable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E3E6-3853-4F92-9D67-0545FDB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V4.1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0FD5B-6F6D-47AC-928D-17D1959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3512D-EC93-41AF-97D8-2F8DD370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5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Portero observado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86C53-CDA3-4EDC-85B9-A78C6D0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GK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3D018-2166-4942-A747-E124441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241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4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A4261-9B78-4191-9C03-C3041E94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Rol no fiable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A1D7D-8838-4F44-B3F5-BCC0006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861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V2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F84C5-866B-4ED7-BE02-309D5E2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Sin inferir posición a partir de estadísticas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16EB1-55B9-4623-B167-D8F8BB9B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2A3CD-045C-44A3-84E7-F1CC75E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90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MOTOR EXPERTO N1000–N13000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A56630-4FFC-424A-B683-ED77A5B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13 módulos N1000–N13000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99983-A706-4813-B812-620BCA0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955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5B094-502D-475A-878C-F0C3DE3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90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N1000 · Disponibilidad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A9F6C-4F16-48C2-A288-250597F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667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D5E42-B8D7-4ED1-8DB0-749BBAB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0D6FD-E900-432B-9CF2-1B98BEA7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Perfil / evolución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D661A-6064-49D4-AD73-F87F188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667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A179D-FF37-4E9C-8E42-E3976AE6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5BA84-7044-4164-87D2-E497172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Ataque · creación · defensa · físico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09461-EAF3-4984-B227-792E4DE4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14775"/>
            <a:ext cx="2667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21E85-E548-477E-9AC3-1089016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10025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21AF7-64E6-4ADA-A38E-61BCB4C6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05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Rol / fit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D74B2C-8D4D-46F3-9814-888EBF0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667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D919BD-4F74-40D1-911E-BD79169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148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4"/>
          </a:solidFill>
          <a:ln xmlns:a="http://schemas.openxmlformats.org/drawingml/2006/main" w="9525">
            <a:solidFill>
              <a:srgbClr val="C65D5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7F395-0116-4A45-AC6D-F52790BE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N13000 ·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A815DF-1114-462A-AF81-E0ED9CFC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Entrada → condición → resultado → confianza → justificación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EE285-BD63-405B-8A9B-6588B17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N13000 se abstiene si no existe evidencia o policy validada.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DE215-7B50-4EA2-9B69-75DBA65F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5/9</a:t>
            </a:r>
          </a:p>
        </p:txBody>
      </p:sp>
    </p:spTree>
    <p:extLst>
      <p:ext uri="{BB962C8B-B14F-4D97-AF65-F5344CB8AC3E}">
        <p14:creationId xmlns:p14="http://schemas.microsoft.com/office/powerpoint/2010/main" val="1323664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C5CDA-0F42-4382-B74F-F5DBA90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E6629-AAAD-49C2-8205-EE64FAF0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Despliegue: producto utilizable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C98C-541D-4175-AF03-6CB5CDDC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Las superficies finales permiten revisar, consultar y exportar los resultados materializados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5D49-3AF7-4972-9F83-4E37AB3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26658c3634629"/>
          <a:stretch xmlns:a="http://schemas.openxmlformats.org/drawingml/2006/main"/>
        </p:blipFill>
        <p:spPr>
          <a:xfrm xmlns:a="http://schemas.openxmlformats.org/drawingml/2006/main">
            <a:off x="769971" y="1714500"/>
            <a:ext cx="3013009" cy="19526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3197943d54cb1"/>
          <a:stretch xmlns:a="http://schemas.openxmlformats.org/drawingml/2006/main"/>
        </p:blipFill>
        <p:spPr>
          <a:xfrm xmlns:a="http://schemas.openxmlformats.org/drawingml/2006/main">
            <a:off x="4589496" y="1714500"/>
            <a:ext cx="3013009" cy="1952625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b67a7af184c86"/>
          <a:stretch xmlns:a="http://schemas.openxmlformats.org/drawingml/2006/main"/>
        </p:blipFill>
        <p:spPr>
          <a:xfrm xmlns:a="http://schemas.openxmlformats.org/drawingml/2006/main">
            <a:off x="8409021" y="1714500"/>
            <a:ext cx="3013009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7E6D3-9496-4625-A16E-1B2E5EB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TEAM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9E6B9-ADAB-4074-A027-15346CBC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PLAYER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2CFEB-1BA2-44C4-A1AE-F12B714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MATCH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80D9D-C0F2-4CE4-8587-09E104D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C53B4-8C46-4ABA-BFCA-6998BAE4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38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84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6407A-07F7-486E-B073-4EE6FDE9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38675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556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Team · Player · 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A10FF-6913-46E8-B1E1-2EAEA4AC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739E4-B62E-4026-9BFD-91F9C478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84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Coach Copilot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81566-167F-4D33-9749-6C3301E5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556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agente grounded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E1A3B-B9D3-41A8-9E9B-503EE2F7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84EFB-78AF-4D6F-9BE7-A4C8CA7A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684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C079E-4944-43B3-AC9B-2F2B23B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38675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556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informe técnico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8D92F-4E83-49E1-A388-E2E356FD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Coach Copilot — agente grounded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11A1B-00E8-47DF-B861-ECF5636A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7B491-449F-42AE-B7B1-10938F3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3BB78-CE58-4682-8B12-932BFF83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34025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B465F-5295-4B07-8E27-D0C388C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1020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E8495-C393-4DA0-A3D3-AFCD5B7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245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preflight / 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F7787-453E-4B1B-85F4-EAC2CD2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34025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01EC1-B2DE-453A-A8C4-D730CF49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1020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ED366-768E-4D8D-9328-921AEC27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5245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tools read-only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621D4-27F9-4E38-B1AD-D661E12E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34025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F51EE-DB81-47B4-B62D-A7B3625D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1020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D9951-F7F1-479C-B506-6F0BD842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5245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evidencia estructurada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77048-9866-46E7-906B-E872E1A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34025"/>
            <a:ext cx="1524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AA"/>
          </a:solidFill>
          <a:ln xmlns:a="http://schemas.openxmlformats.org/drawingml/2006/main" w="0">
            <a:solidFill>
              <a:srgbClr val="16A3A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786E2-9B09-4E2D-95A1-C3902218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1020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0A131-E2EB-4DCD-8C90-48A54F1C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245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7DB0E-F8EF-40ED-B19D-83915F9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El LLM interpreta y explica; no calcula métricas críticas ni accede directamente a DuckDB.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65B1E-F76A-4AA2-91E7-F3FBF1E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6/9</a:t>
            </a:r>
          </a:p>
        </p:txBody>
      </p:sp>
    </p:spTree>
    <p:extLst>
      <p:ext uri="{BB962C8B-B14F-4D97-AF65-F5344CB8AC3E}">
        <p14:creationId xmlns:p14="http://schemas.microsoft.com/office/powerpoint/2010/main" val="870819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E4B4A-C9E7-494F-B780-CD2143A1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5A335-8DBB-4EDB-B04A-CCC311C8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Validación y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1CA43-0190-4BF2-A133-C1BF2EA8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Tres evidencias con alcances diferenciados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7B738-E7A6-4DBA-B4A7-5B1D515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DFB0B-3936-4718-9544-D16F92C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5260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6CFF3-D400-46C9-8639-0E463CA8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0" cy="385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E8359-941C-4CD3-BB92-441C0FBC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CASO HISTÓRICO PRIVADO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B0534-5DAB-40C5-BCFF-E88AE35F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74026-1FAC-4106-AC16-8B61F21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partidos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A36E0-6472-4A97-9FE2-4254AF0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835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EB72F-399B-45F9-9F3B-0868F94C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player-match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58CB7-17D6-43F2-8B42-B98EFDE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590/590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D8824-9B03-42F3-83C2-7382188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24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Match Rating V5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AE7FF-A7FE-45E8-A115-FA6A7C36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380 campo · 38 GK · 172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042F0-47B6-4C47-B5F8-A06D59D2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Comportamiento y volumen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AF5BE-5742-4729-A30C-F53EF0F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FIXTURE COLLECTOR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623BD-B36D-4B12-A76F-D7D08864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2–1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BE35E-E5AD-4221-9FA2-5D6661F0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resultado controlado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C85F0-8560-491D-9A4B-88EB4A6D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6232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5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GF 2 · GC 1</a:t>
            </a:r>
          </a:p>
          <a:p xmlns:a="http://schemas.openxmlformats.org/drawingml/2006/main">
            <a:pPr>
              <a:defRPr sz="18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Córners 3–2</a:t>
            </a:r>
          </a:p>
          <a:p xmlns:a="http://schemas.openxmlformats.org/drawingml/2006/main">
            <a:pPr>
              <a:defRPr sz="180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Faltas: 4 recibidas · 5 cometidas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2744A-90AE-44AC-9030-00F02251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Collector → JSON → DuckDB → Dashboard → Coach Copilot → 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63F9C-70D2-43F7-9750-AF615A2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REPRODUCIBILIDAD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21929-F3A6-4387-91B2-16DB914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28/28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B0855-E898-4E5C-864B-E3D348CA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Coach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93155-E1C7-4870-B311-3CF761A2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6E243-1455-48AA-92A7-000370F9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F87A9-817A-40A7-A9F0-E9B3C9ED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PDF: 4 / 3 / 3 páginas</a:t>
            </a:r>
          </a:p>
          <a:p xmlns:a="http://schemas.openxmlformats.org/drawingml/2006/main">
            <a:pPr>
              <a:defRPr sz="12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QA end-to-end: PASS</a:t>
            </a:r>
          </a:p>
          <a:p xmlns:a="http://schemas.openxmlformats.org/drawingml/2006/main">
            <a:pPr>
              <a:defRPr sz="1275" b="0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A"/>
                </a:solidFill>
                <a:latin typeface="Arial"/>
                <a:ea typeface="Arial"/>
                <a:cs typeface="Arial"/>
              </a:rPr>
              <a:t>Privacidad: 56 identidades auditadas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C5DD2-681F-4FA2-9320-765959A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9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Showcase privada ≠ demo pública sintética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CCAA1-2C47-4135-BB82-F5398DA4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7/9</a:t>
            </a:r>
          </a:p>
        </p:txBody>
      </p:sp>
    </p:spTree>
    <p:extLst>
      <p:ext uri="{BB962C8B-B14F-4D97-AF65-F5344CB8AC3E}">
        <p14:creationId xmlns:p14="http://schemas.microsoft.com/office/powerpoint/2010/main" val="908153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BA820-5C6E-4D32-875C-ED4ADDCA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5C91-698F-49C3-8786-317B40F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Limitaciones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26593-83DB-491F-AD61-D465A973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Alcance técnico-funcional y arquitectónico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04A6E-D234-4DED-9A9F-E949990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8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0FD90-B9B8-4C7A-B34E-A9C39FA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78A3E-8C21-4F4F-8212-FD38E1E1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33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Sin validación con entrenadores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AF51D-643C-4388-85BB-EC61CE38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EE639-E2B9-422C-8ED8-BFE8B4C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33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Sin estudio interobservador del Collector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6551C-13D4-43B9-ADE6-D4B0CC2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9AD1B-8EAB-40AE-A824-80DE9A1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8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Match Rating sin ground truth externo universal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913A5-DA59-41EE-80BC-A374A25A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3F6A9-491D-40F7-B549-2561DE2C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33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GPS sin validación fisiológica real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CB891-FCD9-4FEF-B338-D1A7DCA7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BC374-8F66-472E-BFE3-C362484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33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N13000 no recomienda XI óptimo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63C31-6C94-430E-A128-A9CD9F8A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5D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5D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19A6E-AB60-4C81-86DB-D86D24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33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4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43A"/>
                </a:solidFill>
                <a:latin typeface="Arial"/>
                <a:ea typeface="Arial"/>
                <a:cs typeface="Arial"/>
              </a:rPr>
              <a:t>Sin impacto causal demostrado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A1693-5D5C-4AA3-8279-58726D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7E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7E86"/>
                </a:solidFill>
                <a:latin typeface="Arial"/>
                <a:ea typeface="Arial"/>
                <a:cs typeface="Arial"/>
              </a:rPr>
              <a:t>La evidencia demuestra viabilidad técnico-funcional y arquitectónica; la eficacia deportiva requiere validación externa.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7A7BF-0D46-4CCE-87FE-155BA893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587"/>
                </a:solidFill>
                <a:latin typeface="Arial"/>
                <a:ea typeface="Arial"/>
                <a:cs typeface="Arial"/>
              </a:rPr>
              <a:t>Football Performance System   ·   8/9</a:t>
            </a:r>
          </a:p>
        </p:txBody>
      </p:sp>
    </p:spTree>
    <p:extLst>
      <p:ext uri="{BB962C8B-B14F-4D97-AF65-F5344CB8AC3E}">
        <p14:creationId xmlns:p14="http://schemas.microsoft.com/office/powerpoint/2010/main" val="319064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3D758-B26D-4112-BCC2-44CCE3C3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12867-2904-478C-901A-429823C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885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8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CEA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CEAF0"/>
                </a:solidFill>
                <a:latin typeface="Arial"/>
                <a:ea typeface="Arial"/>
                <a:cs typeface="Arial"/>
              </a:rPr>
              <a:t>Es viable transformar datos simples y observables en un sistema integral,</a:t>
            </a:r>
          </a:p>
          <a:p xmlns:a="http://schemas.openxmlformats.org/drawingml/2006/main">
            <a:pPr>
              <a:defRPr sz="2325" b="1">
                <a:solidFill>
                  <a:srgbClr val="DCEAF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CEAF0"/>
                </a:solidFill>
                <a:latin typeface="Arial"/>
                <a:ea typeface="Arial"/>
                <a:cs typeface="Arial"/>
              </a:rPr>
              <a:t>reproducible y auditable de soporte al análisis futbolístico.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D79D6-B402-4256-ACA5-67A7B2A6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Accesibilidad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6BE66-EF8F-4918-A39A-3C74513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67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4868E-5303-4DAE-85E8-9A1F3DF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A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A3AA"/>
                </a:solidFill>
                <a:latin typeface="Arial"/>
                <a:ea typeface="Arial"/>
                <a:cs typeface="Arial"/>
              </a:rPr>
              <a:t>Producto funcional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A27D2-6C53-4490-BAF8-2D739F3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E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043B5-6AF7-4972-AC07-4FB9551C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   →   Modelo   →   Despliegue   →   Impacto potencial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39CDE-E5B5-418C-8C56-12C6398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1525334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2026-10-04T16:46:58.4980000Z</dcterms:created>
  <dcterms:modified xsi:type="dcterms:W3CDTF">2026-10-04T16:46:58.4980000Z</dcterms:modified>
</coreProperties>
</file>